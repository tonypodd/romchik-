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ПРОМПТ ДЛЯ КАРТИНКИ:</a:t>
            </a:r>
          </a:p>
          <a:p>
            <a:r>
              <a:t>Cinematic dark-room mafia game night, round table, cards and chips, subtle futuristic AI hologram overlays above players, neon green and cyan accents, glassmorphism UI style, volumetric light, realistic but clean, modern school project vibe, no logos, no text, 16:9</a:t>
            </a:r>
          </a:p>
          <a:p/>
          <a:p>
            <a:r>
              <a:t>ЧТО ГОВОРИТЬ НА СЛАЙДЕ (20-30 сек):</a:t>
            </a:r>
          </a:p>
          <a:p>
            <a:r>
              <a:t>Это наш школьный проект Mafia AI. Идея простая: сделать цифрового ведущего, который помогает проводить игру объективно и динамично.</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ПРОМПТ ДЛЯ КАРТИНКИ:</a:t>
            </a:r>
          </a:p>
          <a:p>
            <a:r>
              <a:t>Board game session with no moderator, people arguing, multiple players trying to speak at once, timer pressure, visual metaphor of confusion, dramatic but friendly documentary style, dark neutral palette with one red warning accent, no text, 16:9</a:t>
            </a:r>
          </a:p>
          <a:p/>
          <a:p>
            <a:r>
              <a:t>ЧТО ГОВОРИТЬ НА СЛАЙДЕ (20-30 сек):</a:t>
            </a:r>
          </a:p>
          <a:p>
            <a:r>
              <a:t>Главная проблема — человеческий фактор. Когда нет четкого контроля, появляются споры и теряется темп игры.</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ПРОМПТ ДЛЯ КАРТИНКИ:</a:t>
            </a:r>
          </a:p>
          <a:p>
            <a:r>
              <a:t>Split-screen concept art: left side classic board game chaos, right side AI-assisted structured game flow, same players, clear improvement in order and fairness, modern infographic storytelling image, minimal labels, no gibberish text, 16:9</a:t>
            </a:r>
          </a:p>
          <a:p/>
          <a:p>
            <a:r>
              <a:t>ЧТО ГОВОРИТЬ НА СЛАЙДЕ (20-30 сек):</a:t>
            </a:r>
          </a:p>
          <a:p>
            <a:r>
              <a:t>Актуальность в том, что мы переносим AI из абстрактной темы в реальный сценарий, который понятен каждому.</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ПРОМПТ ДЛЯ КАРТИНКИ:</a:t>
            </a:r>
          </a:p>
          <a:p>
            <a:r>
              <a:t>Clean vector infographic, horizontal 5-step pipeline with icons: players, face scan, voice wave, table detection, game control dashboard, arrows connecting steps, dark background, neon green #2fd988 and cyan #38bdf8 accents, glass cards, no text labels, 16:9</a:t>
            </a:r>
          </a:p>
          <a:p/>
          <a:p>
            <a:r>
              <a:t>ЧТО ГОВОРИТЬ НА СЛАЙДЕ (20-30 сек):</a:t>
            </a:r>
          </a:p>
          <a:p>
            <a:r>
              <a:t>Суть продукта — это единый конвейер подготовки и ведения игры, где каждый этап дает данные для следующего.</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ПРОМПТ ДЛЯ КАРТИНКИ:</a:t>
            </a:r>
          </a:p>
          <a:p>
            <a:r>
              <a:t>UI journey storyboard with four panels: choose player count, face registration camera preview, voice registration microphone view, table contour setup, coherent design language, polished app mockups, dark glassmorphism interface, clean spacing, no text, 16:9</a:t>
            </a:r>
          </a:p>
          <a:p/>
          <a:p>
            <a:r>
              <a:t>ЧТО ГОВОРИТЬ НА СЛАЙДЕ (20-30 сек):</a:t>
            </a:r>
          </a:p>
          <a:p>
            <a:r>
              <a:t>Для пользователя все выглядит как понятный мастер-настройщик из нескольких шагов.</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ПРОМПТ ДЛЯ КАРТИНКИ:</a:t>
            </a:r>
          </a:p>
          <a:p>
            <a:r>
              <a:t>Educational diagram for non-technical audience: camera sees player face, system converts face into abstract numeric fingerprint, compares with saved profiles, outputs recognized player, friendly visual metaphors, simple arrows and icons, dark modern style, no formulas, 16:9</a:t>
            </a:r>
          </a:p>
          <a:p/>
          <a:p>
            <a:r>
              <a:t>ЧТО ГОВОРИТЬ НА СЛАЙДЕ (20-30 сек):</a:t>
            </a:r>
          </a:p>
          <a:p>
            <a:r>
              <a:t>Важно понимать: система не хранит просто фото, она работает с числовым представлением лица для сравнения.</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ПРОМПТ ДЛЯ КАРТИНКИ:</a:t>
            </a:r>
          </a:p>
          <a:p>
            <a:r>
              <a:t>Educational AI voice flow diagram: microphone input, waveform chunks, speaker fingerprint matching, speech-to-text output log, real-time stream concept, minimal infographic style, dark UI, green-cyan highlights, no text, 16:9</a:t>
            </a:r>
          </a:p>
          <a:p/>
          <a:p>
            <a:r>
              <a:t>ЧТО ГОВОРИТЬ НА СЛАЙДЕ (20-30 сек):</a:t>
            </a:r>
          </a:p>
          <a:p>
            <a:r>
              <a:t>Голосовой модуль отвечает сразу за две вещи: идентификацию говорящего и транскрипцию речи.</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ПРОМПТ ДЛЯ КАРТИНКИ:</a:t>
            </a:r>
          </a:p>
          <a:p>
            <a:r>
              <a:t>Camera frame of a table with polygon contour overlay, auto-detection and manual point editing visualized, clean interface mockup, status badge style, progress bar element, realistic room lighting, elegant glass UI, 16:9</a:t>
            </a:r>
          </a:p>
          <a:p/>
          <a:p>
            <a:r>
              <a:t>ЧТО ГОВОРИТЬ НА СЛАЙДЕ (20-30 сек):</a:t>
            </a:r>
          </a:p>
          <a:p>
            <a:r>
              <a:t>Контур стола уменьшает ошибки: система анализирует именно игровую зону, а не весь фон помещения.</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ПРОМПТ ДЛЯ КАРТИНКИ:</a:t>
            </a:r>
          </a:p>
          <a:p>
            <a:r>
              <a:t>Live monitoring dashboard concept: camera stream center, detected players list on side, status indicators online, unknown faces counter, realtime vibe, modern dark dashboard, clear hierarchy, no text, 16:9</a:t>
            </a:r>
          </a:p>
          <a:p/>
          <a:p>
            <a:r>
              <a:t>ЧТО ГОВОРИТЬ НА СЛАЙДЕ (20-30 сек):</a:t>
            </a:r>
          </a:p>
          <a:p>
            <a:r>
              <a:t>После калибровки начинается живой режим: система непрерывно отслеживает, что происходит за столом.</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ПРОМПТ ДЛЯ КАРТИНКИ:</a:t>
            </a:r>
          </a:p>
          <a:p>
            <a:r>
              <a:t>Simple architecture diagram for school audience: Frontend web app block, Backend server block, AI modules block (face, voice, table), arrows for data flow, websocket and api links shown by icons only, minimal visual complexity, clean vector, dark theme, 16:9</a:t>
            </a:r>
          </a:p>
          <a:p/>
          <a:p>
            <a:r>
              <a:t>ЧТО ГОВОРИТЬ НА СЛАЙДЕ (20-30 сек):</a:t>
            </a:r>
          </a:p>
          <a:p>
            <a:r>
              <a:t>Мы разделили систему на понятные части, чтобы ее легче было поддерживать и развивать.</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ПРОМПТ ДЛЯ КАРТИНКИ:</a:t>
            </a:r>
          </a:p>
          <a:p>
            <a:r>
              <a:t>Before-after benefits poster style: fairness, speed, less disputes, immersive gameplay, represented by icons and happy players around table, subtle AI visuals, school presentation friendly, modern look, no text, 16:9</a:t>
            </a:r>
          </a:p>
          <a:p/>
          <a:p>
            <a:r>
              <a:t>ЧТО ГОВОРИТЬ НА СЛАЙДЕ (20-30 сек):</a:t>
            </a:r>
          </a:p>
          <a:p>
            <a:r>
              <a:t>Главный эффект — игра становится более честной и управляемой, а участникам легче сосредоточиться на стратегии.</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ПРОМПТ ДЛЯ КАРТИНКИ:</a:t>
            </a:r>
          </a:p>
          <a:p>
            <a:r>
              <a:t>Roadmap timeline with milestones as glowing cards: improve recognition accuracy, reduce latency, better mobile UI, tournament mode, privacy controls, futuristic but readable visual structure, no text labels, 16:9</a:t>
            </a:r>
          </a:p>
          <a:p/>
          <a:p>
            <a:r>
              <a:t>ЧТО ГОВОРИТЬ НА СЛАЙДЕ (20-30 сек):</a:t>
            </a:r>
          </a:p>
          <a:p>
            <a:r>
              <a:t>Мы честно показываем не только успехи, но и зоны роста — это важная часть инженерного подхода.</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ПРОМПТ ДЛЯ КАРТИНКИ:</a:t>
            </a:r>
          </a:p>
          <a:p>
            <a:r>
              <a:t>Confident team presentation closing visual: students demonstrating AI-powered mafia system on laptop and large screen, audience engaged, warm spotlight, modern educational tech atmosphere, realistic cinematic photo, 16:9</a:t>
            </a:r>
          </a:p>
          <a:p/>
          <a:p>
            <a:r>
              <a:t>ЧТО ГОВОРИТЬ НА СЛАЙДЕ (20-30 сек):</a:t>
            </a:r>
          </a:p>
          <a:p>
            <a:r>
              <a:t>Вопросы приветствуются. Мы можем показать реальный сценарий работы системы по шагам.</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C12"/>
        </a:solidFill>
        <a:effectLst/>
      </p:bgPr>
    </p:bg>
    <p:spTree>
      <p:nvGrpSpPr>
        <p:cNvPr id="1" name=""/>
        <p:cNvGrpSpPr/>
        <p:nvPr/>
      </p:nvGrpSpPr>
      <p:grpSpPr/>
      <p:sp>
        <p:nvSpPr>
          <p:cNvPr id="2" name="TextBox 1"/>
          <p:cNvSpPr txBox="1"/>
          <p:nvPr/>
        </p:nvSpPr>
        <p:spPr>
          <a:xfrm>
            <a:off x="548640" y="320040"/>
            <a:ext cx="8046720" cy="914400"/>
          </a:xfrm>
          <a:prstGeom prst="rect">
            <a:avLst/>
          </a:prstGeom>
          <a:noFill/>
        </p:spPr>
        <p:txBody>
          <a:bodyPr wrap="none">
            <a:spAutoFit/>
          </a:bodyPr>
          <a:lstStyle/>
          <a:p>
            <a:r>
              <a:rPr sz="3600" b="1">
                <a:solidFill>
                  <a:srgbClr val="ECF3EF"/>
                </a:solidFill>
              </a:rPr>
              <a:t>1. MAFIA AI</a:t>
            </a:r>
          </a:p>
        </p:txBody>
      </p:sp>
      <p:sp>
        <p:nvSpPr>
          <p:cNvPr id="3" name="TextBox 2"/>
          <p:cNvSpPr txBox="1"/>
          <p:nvPr/>
        </p:nvSpPr>
        <p:spPr>
          <a:xfrm>
            <a:off x="566928" y="1143000"/>
            <a:ext cx="10607040" cy="640080"/>
          </a:xfrm>
          <a:prstGeom prst="rect">
            <a:avLst/>
          </a:prstGeom>
          <a:noFill/>
        </p:spPr>
        <p:txBody>
          <a:bodyPr wrap="none">
            <a:spAutoFit/>
          </a:bodyPr>
          <a:lstStyle/>
          <a:p>
            <a:r>
              <a:rPr sz="1600">
                <a:solidFill>
                  <a:srgbClr val="A8B2AC"/>
                </a:solidFill>
              </a:rPr>
              <a:t>Школьный проект: AI-ведущий для игры «Мафия»</a:t>
            </a:r>
          </a:p>
        </p:txBody>
      </p:sp>
      <p:sp>
        <p:nvSpPr>
          <p:cNvPr id="4" name="Rounded Rectangle 3"/>
          <p:cNvSpPr/>
          <p:nvPr/>
        </p:nvSpPr>
        <p:spPr>
          <a:xfrm>
            <a:off x="548640" y="1737360"/>
            <a:ext cx="4663440" cy="1828800"/>
          </a:xfrm>
          <a:prstGeom prst="roundRect">
            <a:avLst/>
          </a:prstGeom>
          <a:solidFill>
            <a:srgbClr val="101822"/>
          </a:solidFill>
          <a:ln w="15240">
            <a:solidFill>
              <a:srgbClr val="283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400">
                <a:solidFill>
                  <a:srgbClr val="ECF3EF"/>
                </a:solidFill>
              </a:defRPr>
            </a:pPr>
            <a:r>
              <a:t>Мы автоматизируем роль ведущего: контроль этапов, игроков и спорных моментов.</a:t>
            </a:r>
          </a:p>
          <a:p>
            <a:pPr>
              <a:spcAft>
                <a:spcPts val="800"/>
              </a:spcAft>
              <a:defRPr sz="1400">
                <a:solidFill>
                  <a:srgbClr val="ECF3EF"/>
                </a:solidFill>
              </a:defRPr>
            </a:pPr>
            <a:r>
              <a:t>Цель выступления: показать, как проект работает простыми словами.</a:t>
            </a:r>
          </a:p>
        </p:txBody>
      </p:sp>
      <p:sp>
        <p:nvSpPr>
          <p:cNvPr id="5" name="Rounded Rectangle 4"/>
          <p:cNvSpPr/>
          <p:nvPr/>
        </p:nvSpPr>
        <p:spPr>
          <a:xfrm>
            <a:off x="5440680" y="1737360"/>
            <a:ext cx="6172200" cy="4526280"/>
          </a:xfrm>
          <a:prstGeom prst="roundRect">
            <a:avLst/>
          </a:prstGeom>
          <a:solidFill>
            <a:srgbClr val="19222D"/>
          </a:solidFill>
          <a:ln w="22860">
            <a:solidFill>
              <a:srgbClr val="2FD98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2FD988"/>
                </a:solidFill>
              </a:rPr>
              <a:t>МЕСТО ДЛЯ ИЗОБРАЖЕНИЯ</a:t>
            </a:r>
          </a:p>
          <a:p>
            <a:pPr algn="ctr">
              <a:defRPr sz="1200">
                <a:solidFill>
                  <a:srgbClr val="B0E2C8"/>
                </a:solidFill>
              </a:defRPr>
            </a:pPr>
            <a:r>
              <a:t>Атмосферный титульный кадр: игра + AI</a:t>
            </a:r>
          </a:p>
        </p:txBody>
      </p:sp>
      <p:sp>
        <p:nvSpPr>
          <p:cNvPr id="6" name="Rounded Rectangle 5"/>
          <p:cNvSpPr/>
          <p:nvPr/>
        </p:nvSpPr>
        <p:spPr>
          <a:xfrm>
            <a:off x="5669280" y="5852160"/>
            <a:ext cx="5669280" cy="347472"/>
          </a:xfrm>
          <a:prstGeom prst="roundRect">
            <a:avLst/>
          </a:prstGeom>
          <a:solidFill>
            <a:srgbClr val="182A28"/>
          </a:solidFill>
          <a:ln>
            <a:solidFill>
              <a:srgbClr val="3A7E6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AEEACC"/>
                </a:solidFill>
              </a:defRPr>
            </a:pPr>
            <a:r>
              <a:t>Генерируй картинку по промпту из заметок к слайду</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C12"/>
        </a:solidFill>
        <a:effectLst/>
      </p:bgPr>
    </p:bg>
    <p:spTree>
      <p:nvGrpSpPr>
        <p:cNvPr id="1" name=""/>
        <p:cNvGrpSpPr/>
        <p:nvPr/>
      </p:nvGrpSpPr>
      <p:grpSpPr/>
      <p:sp>
        <p:nvSpPr>
          <p:cNvPr id="2" name="TextBox 1"/>
          <p:cNvSpPr txBox="1"/>
          <p:nvPr/>
        </p:nvSpPr>
        <p:spPr>
          <a:xfrm>
            <a:off x="548640" y="320040"/>
            <a:ext cx="8046720" cy="914400"/>
          </a:xfrm>
          <a:prstGeom prst="rect">
            <a:avLst/>
          </a:prstGeom>
          <a:noFill/>
        </p:spPr>
        <p:txBody>
          <a:bodyPr wrap="none">
            <a:spAutoFit/>
          </a:bodyPr>
          <a:lstStyle/>
          <a:p>
            <a:r>
              <a:rPr sz="3600" b="1">
                <a:solidFill>
                  <a:srgbClr val="ECF3EF"/>
                </a:solidFill>
              </a:rPr>
              <a:t>2. Проблема</a:t>
            </a:r>
          </a:p>
        </p:txBody>
      </p:sp>
      <p:sp>
        <p:nvSpPr>
          <p:cNvPr id="3" name="TextBox 2"/>
          <p:cNvSpPr txBox="1"/>
          <p:nvPr/>
        </p:nvSpPr>
        <p:spPr>
          <a:xfrm>
            <a:off x="566928" y="1143000"/>
            <a:ext cx="10607040" cy="640080"/>
          </a:xfrm>
          <a:prstGeom prst="rect">
            <a:avLst/>
          </a:prstGeom>
          <a:noFill/>
        </p:spPr>
        <p:txBody>
          <a:bodyPr wrap="none">
            <a:spAutoFit/>
          </a:bodyPr>
          <a:lstStyle/>
          <a:p>
            <a:r>
              <a:rPr sz="1600">
                <a:solidFill>
                  <a:srgbClr val="A8B2AC"/>
                </a:solidFill>
              </a:rPr>
              <a:t>Почему вообще нужен такой продукт</a:t>
            </a:r>
          </a:p>
        </p:txBody>
      </p:sp>
      <p:sp>
        <p:nvSpPr>
          <p:cNvPr id="4" name="Rounded Rectangle 3"/>
          <p:cNvSpPr/>
          <p:nvPr/>
        </p:nvSpPr>
        <p:spPr>
          <a:xfrm>
            <a:off x="548640" y="1737360"/>
            <a:ext cx="4663440" cy="1828800"/>
          </a:xfrm>
          <a:prstGeom prst="roundRect">
            <a:avLst/>
          </a:prstGeom>
          <a:solidFill>
            <a:srgbClr val="101822"/>
          </a:solidFill>
          <a:ln w="15240">
            <a:solidFill>
              <a:srgbClr val="283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400">
                <a:solidFill>
                  <a:srgbClr val="ECF3EF"/>
                </a:solidFill>
              </a:defRPr>
            </a:pPr>
            <a:r>
              <a:t>Без ведущего игра часто превращается в споры: кто говорил, кто нарушил, чей ход.</a:t>
            </a:r>
          </a:p>
          <a:p>
            <a:pPr>
              <a:spcAft>
                <a:spcPts val="800"/>
              </a:spcAft>
              <a:defRPr sz="1400">
                <a:solidFill>
                  <a:srgbClr val="ECF3EF"/>
                </a:solidFill>
              </a:defRPr>
            </a:pPr>
            <a:r>
              <a:t>Ручной контроль времени и правил замедляет процесс и повышает субъективность.</a:t>
            </a:r>
          </a:p>
        </p:txBody>
      </p:sp>
      <p:sp>
        <p:nvSpPr>
          <p:cNvPr id="5" name="Rounded Rectangle 4"/>
          <p:cNvSpPr/>
          <p:nvPr/>
        </p:nvSpPr>
        <p:spPr>
          <a:xfrm>
            <a:off x="5440680" y="1737360"/>
            <a:ext cx="6172200" cy="4526280"/>
          </a:xfrm>
          <a:prstGeom prst="roundRect">
            <a:avLst/>
          </a:prstGeom>
          <a:solidFill>
            <a:srgbClr val="19222D"/>
          </a:solidFill>
          <a:ln w="22860">
            <a:solidFill>
              <a:srgbClr val="2FD98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2FD988"/>
                </a:solidFill>
              </a:rPr>
              <a:t>МЕСТО ДЛЯ ИЗОБРАЖЕНИЯ</a:t>
            </a:r>
          </a:p>
          <a:p>
            <a:pPr algn="ctr">
              <a:defRPr sz="1200">
                <a:solidFill>
                  <a:srgbClr val="B0E2C8"/>
                </a:solidFill>
              </a:defRPr>
            </a:pPr>
            <a:r>
              <a:t>Сцена хаотичной игры без ведущего</a:t>
            </a:r>
          </a:p>
        </p:txBody>
      </p:sp>
      <p:sp>
        <p:nvSpPr>
          <p:cNvPr id="6" name="Rounded Rectangle 5"/>
          <p:cNvSpPr/>
          <p:nvPr/>
        </p:nvSpPr>
        <p:spPr>
          <a:xfrm>
            <a:off x="5669280" y="5852160"/>
            <a:ext cx="5669280" cy="347472"/>
          </a:xfrm>
          <a:prstGeom prst="roundRect">
            <a:avLst/>
          </a:prstGeom>
          <a:solidFill>
            <a:srgbClr val="182A28"/>
          </a:solidFill>
          <a:ln>
            <a:solidFill>
              <a:srgbClr val="3A7E6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AEEACC"/>
                </a:solidFill>
              </a:defRPr>
            </a:pPr>
            <a:r>
              <a:t>Генерируй картинку по промпту из заметок к слайду</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C12"/>
        </a:solidFill>
        <a:effectLst/>
      </p:bgPr>
    </p:bg>
    <p:spTree>
      <p:nvGrpSpPr>
        <p:cNvPr id="1" name=""/>
        <p:cNvGrpSpPr/>
        <p:nvPr/>
      </p:nvGrpSpPr>
      <p:grpSpPr/>
      <p:sp>
        <p:nvSpPr>
          <p:cNvPr id="2" name="TextBox 1"/>
          <p:cNvSpPr txBox="1"/>
          <p:nvPr/>
        </p:nvSpPr>
        <p:spPr>
          <a:xfrm>
            <a:off x="548640" y="320040"/>
            <a:ext cx="8046720" cy="914400"/>
          </a:xfrm>
          <a:prstGeom prst="rect">
            <a:avLst/>
          </a:prstGeom>
          <a:noFill/>
        </p:spPr>
        <p:txBody>
          <a:bodyPr wrap="none">
            <a:spAutoFit/>
          </a:bodyPr>
          <a:lstStyle/>
          <a:p>
            <a:r>
              <a:rPr sz="3600" b="1">
                <a:solidFill>
                  <a:srgbClr val="ECF3EF"/>
                </a:solidFill>
              </a:rPr>
              <a:t>3. Актуальность</a:t>
            </a:r>
          </a:p>
        </p:txBody>
      </p:sp>
      <p:sp>
        <p:nvSpPr>
          <p:cNvPr id="3" name="TextBox 2"/>
          <p:cNvSpPr txBox="1"/>
          <p:nvPr/>
        </p:nvSpPr>
        <p:spPr>
          <a:xfrm>
            <a:off x="566928" y="1143000"/>
            <a:ext cx="10607040" cy="640080"/>
          </a:xfrm>
          <a:prstGeom prst="rect">
            <a:avLst/>
          </a:prstGeom>
          <a:noFill/>
        </p:spPr>
        <p:txBody>
          <a:bodyPr wrap="none">
            <a:spAutoFit/>
          </a:bodyPr>
          <a:lstStyle/>
          <a:p>
            <a:r>
              <a:rPr sz="1600">
                <a:solidFill>
                  <a:srgbClr val="A8B2AC"/>
                </a:solidFill>
              </a:rPr>
              <a:t>Почему это важно сейчас</a:t>
            </a:r>
          </a:p>
        </p:txBody>
      </p:sp>
      <p:sp>
        <p:nvSpPr>
          <p:cNvPr id="4" name="Rounded Rectangle 3"/>
          <p:cNvSpPr/>
          <p:nvPr/>
        </p:nvSpPr>
        <p:spPr>
          <a:xfrm>
            <a:off x="548640" y="1737360"/>
            <a:ext cx="4663440" cy="1828800"/>
          </a:xfrm>
          <a:prstGeom prst="roundRect">
            <a:avLst/>
          </a:prstGeom>
          <a:solidFill>
            <a:srgbClr val="101822"/>
          </a:solidFill>
          <a:ln w="15240">
            <a:solidFill>
              <a:srgbClr val="283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400">
                <a:solidFill>
                  <a:srgbClr val="ECF3EF"/>
                </a:solidFill>
              </a:defRPr>
            </a:pPr>
            <a:r>
              <a:t>AI уже помогает в учебе, бизнесе и развлечениях — игры тоже могут стать умнее.</a:t>
            </a:r>
          </a:p>
          <a:p>
            <a:pPr>
              <a:spcAft>
                <a:spcPts val="800"/>
              </a:spcAft>
              <a:defRPr sz="1400">
                <a:solidFill>
                  <a:srgbClr val="ECF3EF"/>
                </a:solidFill>
              </a:defRPr>
            </a:pPr>
            <a:r>
              <a:t>Проект показывает практическое применение технологий в понятной жизненной задаче.</a:t>
            </a:r>
          </a:p>
        </p:txBody>
      </p:sp>
      <p:sp>
        <p:nvSpPr>
          <p:cNvPr id="5" name="Rounded Rectangle 4"/>
          <p:cNvSpPr/>
          <p:nvPr/>
        </p:nvSpPr>
        <p:spPr>
          <a:xfrm>
            <a:off x="5440680" y="1737360"/>
            <a:ext cx="6172200" cy="4526280"/>
          </a:xfrm>
          <a:prstGeom prst="roundRect">
            <a:avLst/>
          </a:prstGeom>
          <a:solidFill>
            <a:srgbClr val="19222D"/>
          </a:solidFill>
          <a:ln w="22860">
            <a:solidFill>
              <a:srgbClr val="2FD98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2FD988"/>
                </a:solidFill>
              </a:rPr>
              <a:t>МЕСТО ДЛЯ ИЗОБРАЖЕНИЯ</a:t>
            </a:r>
          </a:p>
          <a:p>
            <a:pPr algn="ctr">
              <a:defRPr sz="1200">
                <a:solidFill>
                  <a:srgbClr val="B0E2C8"/>
                </a:solidFill>
              </a:defRPr>
            </a:pPr>
            <a:r>
              <a:t>Сравнение: обычная игра vs AI-поддержка</a:t>
            </a:r>
          </a:p>
        </p:txBody>
      </p:sp>
      <p:sp>
        <p:nvSpPr>
          <p:cNvPr id="6" name="Rounded Rectangle 5"/>
          <p:cNvSpPr/>
          <p:nvPr/>
        </p:nvSpPr>
        <p:spPr>
          <a:xfrm>
            <a:off x="5669280" y="5852160"/>
            <a:ext cx="5669280" cy="347472"/>
          </a:xfrm>
          <a:prstGeom prst="roundRect">
            <a:avLst/>
          </a:prstGeom>
          <a:solidFill>
            <a:srgbClr val="182A28"/>
          </a:solidFill>
          <a:ln>
            <a:solidFill>
              <a:srgbClr val="3A7E6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AEEACC"/>
                </a:solidFill>
              </a:defRPr>
            </a:pPr>
            <a:r>
              <a:t>Генерируй картинку по промпту из заметок к слайду</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C12"/>
        </a:solidFill>
        <a:effectLst/>
      </p:bgPr>
    </p:bg>
    <p:spTree>
      <p:nvGrpSpPr>
        <p:cNvPr id="1" name=""/>
        <p:cNvGrpSpPr/>
        <p:nvPr/>
      </p:nvGrpSpPr>
      <p:grpSpPr/>
      <p:sp>
        <p:nvSpPr>
          <p:cNvPr id="2" name="TextBox 1"/>
          <p:cNvSpPr txBox="1"/>
          <p:nvPr/>
        </p:nvSpPr>
        <p:spPr>
          <a:xfrm>
            <a:off x="548640" y="320040"/>
            <a:ext cx="8046720" cy="914400"/>
          </a:xfrm>
          <a:prstGeom prst="rect">
            <a:avLst/>
          </a:prstGeom>
          <a:noFill/>
        </p:spPr>
        <p:txBody>
          <a:bodyPr wrap="none">
            <a:spAutoFit/>
          </a:bodyPr>
          <a:lstStyle/>
          <a:p>
            <a:r>
              <a:rPr sz="3600" b="1">
                <a:solidFill>
                  <a:srgbClr val="ECF3EF"/>
                </a:solidFill>
              </a:rPr>
              <a:t>4. Идея продукта</a:t>
            </a:r>
          </a:p>
        </p:txBody>
      </p:sp>
      <p:sp>
        <p:nvSpPr>
          <p:cNvPr id="3" name="TextBox 2"/>
          <p:cNvSpPr txBox="1"/>
          <p:nvPr/>
        </p:nvSpPr>
        <p:spPr>
          <a:xfrm>
            <a:off x="566928" y="1143000"/>
            <a:ext cx="10607040" cy="640080"/>
          </a:xfrm>
          <a:prstGeom prst="rect">
            <a:avLst/>
          </a:prstGeom>
          <a:noFill/>
        </p:spPr>
        <p:txBody>
          <a:bodyPr wrap="none">
            <a:spAutoFit/>
          </a:bodyPr>
          <a:lstStyle/>
          <a:p>
            <a:r>
              <a:rPr sz="1600">
                <a:solidFill>
                  <a:srgbClr val="A8B2AC"/>
                </a:solidFill>
              </a:rPr>
              <a:t>Как выглядит решение в одном кадре</a:t>
            </a:r>
          </a:p>
        </p:txBody>
      </p:sp>
      <p:sp>
        <p:nvSpPr>
          <p:cNvPr id="4" name="Rounded Rectangle 3"/>
          <p:cNvSpPr/>
          <p:nvPr/>
        </p:nvSpPr>
        <p:spPr>
          <a:xfrm>
            <a:off x="548640" y="1737360"/>
            <a:ext cx="4663440" cy="1828800"/>
          </a:xfrm>
          <a:prstGeom prst="roundRect">
            <a:avLst/>
          </a:prstGeom>
          <a:solidFill>
            <a:srgbClr val="101822"/>
          </a:solidFill>
          <a:ln w="15240">
            <a:solidFill>
              <a:srgbClr val="283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400">
                <a:solidFill>
                  <a:srgbClr val="ECF3EF"/>
                </a:solidFill>
              </a:defRPr>
            </a:pPr>
            <a:r>
              <a:t>Лица → Голоса → Стол → Игровой процесс.</a:t>
            </a:r>
          </a:p>
          <a:p>
            <a:pPr>
              <a:spcAft>
                <a:spcPts val="800"/>
              </a:spcAft>
              <a:defRPr sz="1400">
                <a:solidFill>
                  <a:srgbClr val="ECF3EF"/>
                </a:solidFill>
              </a:defRPr>
            </a:pPr>
            <a:r>
              <a:t>Система собирает контекст и помогает соблюдать правила автоматически.</a:t>
            </a:r>
          </a:p>
        </p:txBody>
      </p:sp>
      <p:sp>
        <p:nvSpPr>
          <p:cNvPr id="5" name="Rounded Rectangle 4"/>
          <p:cNvSpPr/>
          <p:nvPr/>
        </p:nvSpPr>
        <p:spPr>
          <a:xfrm>
            <a:off x="5440680" y="1737360"/>
            <a:ext cx="6172200" cy="4526280"/>
          </a:xfrm>
          <a:prstGeom prst="roundRect">
            <a:avLst/>
          </a:prstGeom>
          <a:solidFill>
            <a:srgbClr val="19222D"/>
          </a:solidFill>
          <a:ln w="22860">
            <a:solidFill>
              <a:srgbClr val="2FD98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2FD988"/>
                </a:solidFill>
              </a:rPr>
              <a:t>МЕСТО ДЛЯ ИЗОБРАЖЕНИЯ</a:t>
            </a:r>
          </a:p>
          <a:p>
            <a:pPr algn="ctr">
              <a:defRPr sz="1200">
                <a:solidFill>
                  <a:srgbClr val="B0E2C8"/>
                </a:solidFill>
              </a:defRPr>
            </a:pPr>
            <a:r>
              <a:t>Главная схема пайплайна проекта</a:t>
            </a:r>
          </a:p>
        </p:txBody>
      </p:sp>
      <p:sp>
        <p:nvSpPr>
          <p:cNvPr id="6" name="Rounded Rectangle 5"/>
          <p:cNvSpPr/>
          <p:nvPr/>
        </p:nvSpPr>
        <p:spPr>
          <a:xfrm>
            <a:off x="5669280" y="5852160"/>
            <a:ext cx="5669280" cy="347472"/>
          </a:xfrm>
          <a:prstGeom prst="roundRect">
            <a:avLst/>
          </a:prstGeom>
          <a:solidFill>
            <a:srgbClr val="182A28"/>
          </a:solidFill>
          <a:ln>
            <a:solidFill>
              <a:srgbClr val="3A7E6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AEEACC"/>
                </a:solidFill>
              </a:defRPr>
            </a:pPr>
            <a:r>
              <a:t>Генерируй картинку по промпту из заметок к слайду</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C12"/>
        </a:solidFill>
        <a:effectLst/>
      </p:bgPr>
    </p:bg>
    <p:spTree>
      <p:nvGrpSpPr>
        <p:cNvPr id="1" name=""/>
        <p:cNvGrpSpPr/>
        <p:nvPr/>
      </p:nvGrpSpPr>
      <p:grpSpPr/>
      <p:sp>
        <p:nvSpPr>
          <p:cNvPr id="2" name="TextBox 1"/>
          <p:cNvSpPr txBox="1"/>
          <p:nvPr/>
        </p:nvSpPr>
        <p:spPr>
          <a:xfrm>
            <a:off x="548640" y="320040"/>
            <a:ext cx="8046720" cy="914400"/>
          </a:xfrm>
          <a:prstGeom prst="rect">
            <a:avLst/>
          </a:prstGeom>
          <a:noFill/>
        </p:spPr>
        <p:txBody>
          <a:bodyPr wrap="none">
            <a:spAutoFit/>
          </a:bodyPr>
          <a:lstStyle/>
          <a:p>
            <a:r>
              <a:rPr sz="3600" b="1">
                <a:solidFill>
                  <a:srgbClr val="ECF3EF"/>
                </a:solidFill>
              </a:rPr>
              <a:t>5. Сценарий пользователя</a:t>
            </a:r>
          </a:p>
        </p:txBody>
      </p:sp>
      <p:sp>
        <p:nvSpPr>
          <p:cNvPr id="3" name="TextBox 2"/>
          <p:cNvSpPr txBox="1"/>
          <p:nvPr/>
        </p:nvSpPr>
        <p:spPr>
          <a:xfrm>
            <a:off x="566928" y="1143000"/>
            <a:ext cx="10607040" cy="640080"/>
          </a:xfrm>
          <a:prstGeom prst="rect">
            <a:avLst/>
          </a:prstGeom>
          <a:noFill/>
        </p:spPr>
        <p:txBody>
          <a:bodyPr wrap="none">
            <a:spAutoFit/>
          </a:bodyPr>
          <a:lstStyle/>
          <a:p>
            <a:r>
              <a:rPr sz="1600">
                <a:solidFill>
                  <a:srgbClr val="A8B2AC"/>
                </a:solidFill>
              </a:rPr>
              <a:t>Путь от запуска до начала партии</a:t>
            </a:r>
          </a:p>
        </p:txBody>
      </p:sp>
      <p:sp>
        <p:nvSpPr>
          <p:cNvPr id="4" name="Rounded Rectangle 3"/>
          <p:cNvSpPr/>
          <p:nvPr/>
        </p:nvSpPr>
        <p:spPr>
          <a:xfrm>
            <a:off x="548640" y="1737360"/>
            <a:ext cx="4663440" cy="1828800"/>
          </a:xfrm>
          <a:prstGeom prst="roundRect">
            <a:avLst/>
          </a:prstGeom>
          <a:solidFill>
            <a:srgbClr val="101822"/>
          </a:solidFill>
          <a:ln w="15240">
            <a:solidFill>
              <a:srgbClr val="283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400">
                <a:solidFill>
                  <a:srgbClr val="ECF3EF"/>
                </a:solidFill>
              </a:defRPr>
            </a:pPr>
            <a:r>
              <a:t>1) Выбор количества игроков. 2) Регистрация лиц. 3) Регистрация голосов. 4) Определение стола.</a:t>
            </a:r>
          </a:p>
          <a:p>
            <a:pPr>
              <a:spcAft>
                <a:spcPts val="800"/>
              </a:spcAft>
              <a:defRPr sz="1400">
                <a:solidFill>
                  <a:srgbClr val="ECF3EF"/>
                </a:solidFill>
              </a:defRPr>
            </a:pPr>
            <a:r>
              <a:t>После этого система готова к реальному игровому процессу.</a:t>
            </a:r>
          </a:p>
        </p:txBody>
      </p:sp>
      <p:sp>
        <p:nvSpPr>
          <p:cNvPr id="5" name="Rounded Rectangle 4"/>
          <p:cNvSpPr/>
          <p:nvPr/>
        </p:nvSpPr>
        <p:spPr>
          <a:xfrm>
            <a:off x="5440680" y="1737360"/>
            <a:ext cx="6172200" cy="4526280"/>
          </a:xfrm>
          <a:prstGeom prst="roundRect">
            <a:avLst/>
          </a:prstGeom>
          <a:solidFill>
            <a:srgbClr val="19222D"/>
          </a:solidFill>
          <a:ln w="22860">
            <a:solidFill>
              <a:srgbClr val="2FD98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2FD988"/>
                </a:solidFill>
              </a:rPr>
              <a:t>МЕСТО ДЛЯ ИЗОБРАЖЕНИЯ</a:t>
            </a:r>
          </a:p>
          <a:p>
            <a:pPr algn="ctr">
              <a:defRPr sz="1200">
                <a:solidFill>
                  <a:srgbClr val="B0E2C8"/>
                </a:solidFill>
              </a:defRPr>
            </a:pPr>
            <a:r>
              <a:t>Storyboard из 4 экранов интерфейса</a:t>
            </a:r>
          </a:p>
        </p:txBody>
      </p:sp>
      <p:sp>
        <p:nvSpPr>
          <p:cNvPr id="6" name="Rounded Rectangle 5"/>
          <p:cNvSpPr/>
          <p:nvPr/>
        </p:nvSpPr>
        <p:spPr>
          <a:xfrm>
            <a:off x="5669280" y="5852160"/>
            <a:ext cx="5669280" cy="347472"/>
          </a:xfrm>
          <a:prstGeom prst="roundRect">
            <a:avLst/>
          </a:prstGeom>
          <a:solidFill>
            <a:srgbClr val="182A28"/>
          </a:solidFill>
          <a:ln>
            <a:solidFill>
              <a:srgbClr val="3A7E6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AEEACC"/>
                </a:solidFill>
              </a:defRPr>
            </a:pPr>
            <a:r>
              <a:t>Генерируй картинку по промпту из заметок к слайду</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C12"/>
        </a:solidFill>
        <a:effectLst/>
      </p:bgPr>
    </p:bg>
    <p:spTree>
      <p:nvGrpSpPr>
        <p:cNvPr id="1" name=""/>
        <p:cNvGrpSpPr/>
        <p:nvPr/>
      </p:nvGrpSpPr>
      <p:grpSpPr/>
      <p:sp>
        <p:nvSpPr>
          <p:cNvPr id="2" name="TextBox 1"/>
          <p:cNvSpPr txBox="1"/>
          <p:nvPr/>
        </p:nvSpPr>
        <p:spPr>
          <a:xfrm>
            <a:off x="548640" y="320040"/>
            <a:ext cx="8046720" cy="914400"/>
          </a:xfrm>
          <a:prstGeom prst="rect">
            <a:avLst/>
          </a:prstGeom>
          <a:noFill/>
        </p:spPr>
        <p:txBody>
          <a:bodyPr wrap="none">
            <a:spAutoFit/>
          </a:bodyPr>
          <a:lstStyle/>
          <a:p>
            <a:r>
              <a:rPr sz="3600" b="1">
                <a:solidFill>
                  <a:srgbClr val="ECF3EF"/>
                </a:solidFill>
              </a:rPr>
              <a:t>6. Как работает распознавание лиц</a:t>
            </a:r>
          </a:p>
        </p:txBody>
      </p:sp>
      <p:sp>
        <p:nvSpPr>
          <p:cNvPr id="3" name="TextBox 2"/>
          <p:cNvSpPr txBox="1"/>
          <p:nvPr/>
        </p:nvSpPr>
        <p:spPr>
          <a:xfrm>
            <a:off x="566928" y="1143000"/>
            <a:ext cx="10607040" cy="640080"/>
          </a:xfrm>
          <a:prstGeom prst="rect">
            <a:avLst/>
          </a:prstGeom>
          <a:noFill/>
        </p:spPr>
        <p:txBody>
          <a:bodyPr wrap="none">
            <a:spAutoFit/>
          </a:bodyPr>
          <a:lstStyle/>
          <a:p>
            <a:r>
              <a:rPr sz="1600">
                <a:solidFill>
                  <a:srgbClr val="A8B2AC"/>
                </a:solidFill>
              </a:rPr>
              <a:t>Простой принцип без сложной математики</a:t>
            </a:r>
          </a:p>
        </p:txBody>
      </p:sp>
      <p:sp>
        <p:nvSpPr>
          <p:cNvPr id="4" name="Rounded Rectangle 3"/>
          <p:cNvSpPr/>
          <p:nvPr/>
        </p:nvSpPr>
        <p:spPr>
          <a:xfrm>
            <a:off x="548640" y="1737360"/>
            <a:ext cx="4663440" cy="1828800"/>
          </a:xfrm>
          <a:prstGeom prst="roundRect">
            <a:avLst/>
          </a:prstGeom>
          <a:solidFill>
            <a:srgbClr val="101822"/>
          </a:solidFill>
          <a:ln w="15240">
            <a:solidFill>
              <a:srgbClr val="283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400">
                <a:solidFill>
                  <a:srgbClr val="ECF3EF"/>
                </a:solidFill>
              </a:defRPr>
            </a:pPr>
            <a:r>
              <a:t>Камера видит лицо, система превращает его в «цифровой отпечаток».</a:t>
            </a:r>
          </a:p>
          <a:p>
            <a:pPr>
              <a:spcAft>
                <a:spcPts val="800"/>
              </a:spcAft>
              <a:defRPr sz="1400">
                <a:solidFill>
                  <a:srgbClr val="ECF3EF"/>
                </a:solidFill>
              </a:defRPr>
            </a:pPr>
            <a:r>
              <a:t>Дальше отпечаток сравнивается с базой и определяется игрок.</a:t>
            </a:r>
          </a:p>
        </p:txBody>
      </p:sp>
      <p:sp>
        <p:nvSpPr>
          <p:cNvPr id="5" name="Rounded Rectangle 4"/>
          <p:cNvSpPr/>
          <p:nvPr/>
        </p:nvSpPr>
        <p:spPr>
          <a:xfrm>
            <a:off x="5440680" y="1737360"/>
            <a:ext cx="6172200" cy="4526280"/>
          </a:xfrm>
          <a:prstGeom prst="roundRect">
            <a:avLst/>
          </a:prstGeom>
          <a:solidFill>
            <a:srgbClr val="19222D"/>
          </a:solidFill>
          <a:ln w="22860">
            <a:solidFill>
              <a:srgbClr val="2FD98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2FD988"/>
                </a:solidFill>
              </a:rPr>
              <a:t>МЕСТО ДЛЯ ИЗОБРАЖЕНИЯ</a:t>
            </a:r>
          </a:p>
          <a:p>
            <a:pPr algn="ctr">
              <a:defRPr sz="1200">
                <a:solidFill>
                  <a:srgbClr val="B0E2C8"/>
                </a:solidFill>
              </a:defRPr>
            </a:pPr>
            <a:r>
              <a:t>Обучающая схема face recognition</a:t>
            </a:r>
          </a:p>
        </p:txBody>
      </p:sp>
      <p:sp>
        <p:nvSpPr>
          <p:cNvPr id="6" name="Rounded Rectangle 5"/>
          <p:cNvSpPr/>
          <p:nvPr/>
        </p:nvSpPr>
        <p:spPr>
          <a:xfrm>
            <a:off x="5669280" y="5852160"/>
            <a:ext cx="5669280" cy="347472"/>
          </a:xfrm>
          <a:prstGeom prst="roundRect">
            <a:avLst/>
          </a:prstGeom>
          <a:solidFill>
            <a:srgbClr val="182A28"/>
          </a:solidFill>
          <a:ln>
            <a:solidFill>
              <a:srgbClr val="3A7E6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AEEACC"/>
                </a:solidFill>
              </a:defRPr>
            </a:pPr>
            <a:r>
              <a:t>Генерируй картинку по промпту из заметок к слайду</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C12"/>
        </a:solidFill>
        <a:effectLst/>
      </p:bgPr>
    </p:bg>
    <p:spTree>
      <p:nvGrpSpPr>
        <p:cNvPr id="1" name=""/>
        <p:cNvGrpSpPr/>
        <p:nvPr/>
      </p:nvGrpSpPr>
      <p:grpSpPr/>
      <p:sp>
        <p:nvSpPr>
          <p:cNvPr id="2" name="TextBox 1"/>
          <p:cNvSpPr txBox="1"/>
          <p:nvPr/>
        </p:nvSpPr>
        <p:spPr>
          <a:xfrm>
            <a:off x="548640" y="320040"/>
            <a:ext cx="8046720" cy="914400"/>
          </a:xfrm>
          <a:prstGeom prst="rect">
            <a:avLst/>
          </a:prstGeom>
          <a:noFill/>
        </p:spPr>
        <p:txBody>
          <a:bodyPr wrap="none">
            <a:spAutoFit/>
          </a:bodyPr>
          <a:lstStyle/>
          <a:p>
            <a:r>
              <a:rPr sz="3600" b="1">
                <a:solidFill>
                  <a:srgbClr val="ECF3EF"/>
                </a:solidFill>
              </a:rPr>
              <a:t>7. Как работает голос</a:t>
            </a:r>
          </a:p>
        </p:txBody>
      </p:sp>
      <p:sp>
        <p:nvSpPr>
          <p:cNvPr id="3" name="TextBox 2"/>
          <p:cNvSpPr txBox="1"/>
          <p:nvPr/>
        </p:nvSpPr>
        <p:spPr>
          <a:xfrm>
            <a:off x="566928" y="1143000"/>
            <a:ext cx="10607040" cy="640080"/>
          </a:xfrm>
          <a:prstGeom prst="rect">
            <a:avLst/>
          </a:prstGeom>
          <a:noFill/>
        </p:spPr>
        <p:txBody>
          <a:bodyPr wrap="none">
            <a:spAutoFit/>
          </a:bodyPr>
          <a:lstStyle/>
          <a:p>
            <a:r>
              <a:rPr sz="1600">
                <a:solidFill>
                  <a:srgbClr val="A8B2AC"/>
                </a:solidFill>
              </a:rPr>
              <a:t>Кто говорит и что говорит</a:t>
            </a:r>
          </a:p>
        </p:txBody>
      </p:sp>
      <p:sp>
        <p:nvSpPr>
          <p:cNvPr id="4" name="Rounded Rectangle 3"/>
          <p:cNvSpPr/>
          <p:nvPr/>
        </p:nvSpPr>
        <p:spPr>
          <a:xfrm>
            <a:off x="548640" y="1737360"/>
            <a:ext cx="4663440" cy="1828800"/>
          </a:xfrm>
          <a:prstGeom prst="roundRect">
            <a:avLst/>
          </a:prstGeom>
          <a:solidFill>
            <a:srgbClr val="101822"/>
          </a:solidFill>
          <a:ln w="15240">
            <a:solidFill>
              <a:srgbClr val="283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400">
                <a:solidFill>
                  <a:srgbClr val="ECF3EF"/>
                </a:solidFill>
              </a:defRPr>
            </a:pPr>
            <a:r>
              <a:t>Микрофон записывает речь, система выделяет голосовые особенности игрока.</a:t>
            </a:r>
          </a:p>
          <a:p>
            <a:pPr>
              <a:spcAft>
                <a:spcPts val="800"/>
              </a:spcAft>
              <a:defRPr sz="1400">
                <a:solidFill>
                  <a:srgbClr val="ECF3EF"/>
                </a:solidFill>
              </a:defRPr>
            </a:pPr>
            <a:r>
              <a:t>Параллельно идет распознавание текста для логов и анализа реплик.</a:t>
            </a:r>
          </a:p>
        </p:txBody>
      </p:sp>
      <p:sp>
        <p:nvSpPr>
          <p:cNvPr id="5" name="Rounded Rectangle 4"/>
          <p:cNvSpPr/>
          <p:nvPr/>
        </p:nvSpPr>
        <p:spPr>
          <a:xfrm>
            <a:off x="5440680" y="1737360"/>
            <a:ext cx="6172200" cy="4526280"/>
          </a:xfrm>
          <a:prstGeom prst="roundRect">
            <a:avLst/>
          </a:prstGeom>
          <a:solidFill>
            <a:srgbClr val="19222D"/>
          </a:solidFill>
          <a:ln w="22860">
            <a:solidFill>
              <a:srgbClr val="2FD98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2FD988"/>
                </a:solidFill>
              </a:rPr>
              <a:t>МЕСТО ДЛЯ ИЗОБРАЖЕНИЯ</a:t>
            </a:r>
          </a:p>
          <a:p>
            <a:pPr algn="ctr">
              <a:defRPr sz="1200">
                <a:solidFill>
                  <a:srgbClr val="B0E2C8"/>
                </a:solidFill>
              </a:defRPr>
            </a:pPr>
            <a:r>
              <a:t>Схема voice ID + speech-to-text</a:t>
            </a:r>
          </a:p>
        </p:txBody>
      </p:sp>
      <p:sp>
        <p:nvSpPr>
          <p:cNvPr id="6" name="Rounded Rectangle 5"/>
          <p:cNvSpPr/>
          <p:nvPr/>
        </p:nvSpPr>
        <p:spPr>
          <a:xfrm>
            <a:off x="5669280" y="5852160"/>
            <a:ext cx="5669280" cy="347472"/>
          </a:xfrm>
          <a:prstGeom prst="roundRect">
            <a:avLst/>
          </a:prstGeom>
          <a:solidFill>
            <a:srgbClr val="182A28"/>
          </a:solidFill>
          <a:ln>
            <a:solidFill>
              <a:srgbClr val="3A7E6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AEEACC"/>
                </a:solidFill>
              </a:defRPr>
            </a:pPr>
            <a:r>
              <a:t>Генерируй картинку по промпту из заметок к слайду</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C12"/>
        </a:solidFill>
        <a:effectLst/>
      </p:bgPr>
    </p:bg>
    <p:spTree>
      <p:nvGrpSpPr>
        <p:cNvPr id="1" name=""/>
        <p:cNvGrpSpPr/>
        <p:nvPr/>
      </p:nvGrpSpPr>
      <p:grpSpPr/>
      <p:sp>
        <p:nvSpPr>
          <p:cNvPr id="2" name="TextBox 1"/>
          <p:cNvSpPr txBox="1"/>
          <p:nvPr/>
        </p:nvSpPr>
        <p:spPr>
          <a:xfrm>
            <a:off x="548640" y="320040"/>
            <a:ext cx="8046720" cy="914400"/>
          </a:xfrm>
          <a:prstGeom prst="rect">
            <a:avLst/>
          </a:prstGeom>
          <a:noFill/>
        </p:spPr>
        <p:txBody>
          <a:bodyPr wrap="none">
            <a:spAutoFit/>
          </a:bodyPr>
          <a:lstStyle/>
          <a:p>
            <a:r>
              <a:rPr sz="3600" b="1">
                <a:solidFill>
                  <a:srgbClr val="ECF3EF"/>
                </a:solidFill>
              </a:rPr>
              <a:t>8. Определение стола</a:t>
            </a:r>
          </a:p>
        </p:txBody>
      </p:sp>
      <p:sp>
        <p:nvSpPr>
          <p:cNvPr id="3" name="TextBox 2"/>
          <p:cNvSpPr txBox="1"/>
          <p:nvPr/>
        </p:nvSpPr>
        <p:spPr>
          <a:xfrm>
            <a:off x="566928" y="1143000"/>
            <a:ext cx="10607040" cy="640080"/>
          </a:xfrm>
          <a:prstGeom prst="rect">
            <a:avLst/>
          </a:prstGeom>
          <a:noFill/>
        </p:spPr>
        <p:txBody>
          <a:bodyPr wrap="none">
            <a:spAutoFit/>
          </a:bodyPr>
          <a:lstStyle/>
          <a:p>
            <a:r>
              <a:rPr sz="1600">
                <a:solidFill>
                  <a:srgbClr val="A8B2AC"/>
                </a:solidFill>
              </a:rPr>
              <a:t>Зачем нужен контур игровой зоны</a:t>
            </a:r>
          </a:p>
        </p:txBody>
      </p:sp>
      <p:sp>
        <p:nvSpPr>
          <p:cNvPr id="4" name="Rounded Rectangle 3"/>
          <p:cNvSpPr/>
          <p:nvPr/>
        </p:nvSpPr>
        <p:spPr>
          <a:xfrm>
            <a:off x="548640" y="1737360"/>
            <a:ext cx="4663440" cy="1828800"/>
          </a:xfrm>
          <a:prstGeom prst="roundRect">
            <a:avLst/>
          </a:prstGeom>
          <a:solidFill>
            <a:srgbClr val="101822"/>
          </a:solidFill>
          <a:ln w="15240">
            <a:solidFill>
              <a:srgbClr val="283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400">
                <a:solidFill>
                  <a:srgbClr val="ECF3EF"/>
                </a:solidFill>
              </a:defRPr>
            </a:pPr>
            <a:r>
              <a:t>Система должна понимать, где именно находится стол и рабочая область игры.</a:t>
            </a:r>
          </a:p>
          <a:p>
            <a:pPr>
              <a:spcAft>
                <a:spcPts val="800"/>
              </a:spcAft>
              <a:defRPr sz="1400">
                <a:solidFill>
                  <a:srgbClr val="ECF3EF"/>
                </a:solidFill>
              </a:defRPr>
            </a:pPr>
            <a:r>
              <a:t>Есть автоопределение и ручная разметка, если автоматике нужна помощь.</a:t>
            </a:r>
          </a:p>
        </p:txBody>
      </p:sp>
      <p:sp>
        <p:nvSpPr>
          <p:cNvPr id="5" name="Rounded Rectangle 4"/>
          <p:cNvSpPr/>
          <p:nvPr/>
        </p:nvSpPr>
        <p:spPr>
          <a:xfrm>
            <a:off x="5440680" y="1737360"/>
            <a:ext cx="6172200" cy="4526280"/>
          </a:xfrm>
          <a:prstGeom prst="roundRect">
            <a:avLst/>
          </a:prstGeom>
          <a:solidFill>
            <a:srgbClr val="19222D"/>
          </a:solidFill>
          <a:ln w="22860">
            <a:solidFill>
              <a:srgbClr val="2FD98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2FD988"/>
                </a:solidFill>
              </a:rPr>
              <a:t>МЕСТО ДЛЯ ИЗОБРАЖЕНИЯ</a:t>
            </a:r>
          </a:p>
          <a:p>
            <a:pPr algn="ctr">
              <a:defRPr sz="1200">
                <a:solidFill>
                  <a:srgbClr val="B0E2C8"/>
                </a:solidFill>
              </a:defRPr>
            </a:pPr>
            <a:r>
              <a:t>Кадр камеры с полигоном стола</a:t>
            </a:r>
          </a:p>
        </p:txBody>
      </p:sp>
      <p:sp>
        <p:nvSpPr>
          <p:cNvPr id="6" name="Rounded Rectangle 5"/>
          <p:cNvSpPr/>
          <p:nvPr/>
        </p:nvSpPr>
        <p:spPr>
          <a:xfrm>
            <a:off x="5669280" y="5852160"/>
            <a:ext cx="5669280" cy="347472"/>
          </a:xfrm>
          <a:prstGeom prst="roundRect">
            <a:avLst/>
          </a:prstGeom>
          <a:solidFill>
            <a:srgbClr val="182A28"/>
          </a:solidFill>
          <a:ln>
            <a:solidFill>
              <a:srgbClr val="3A7E6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AEEACC"/>
                </a:solidFill>
              </a:defRPr>
            </a:pPr>
            <a:r>
              <a:t>Генерируй картинку по промпту из заметок к слайду</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0C12"/>
        </a:solidFill>
        <a:effectLst/>
      </p:bgPr>
    </p:bg>
    <p:spTree>
      <p:nvGrpSpPr>
        <p:cNvPr id="1" name=""/>
        <p:cNvGrpSpPr/>
        <p:nvPr/>
      </p:nvGrpSpPr>
      <p:grpSpPr/>
      <p:sp>
        <p:nvSpPr>
          <p:cNvPr id="2" name="TextBox 1"/>
          <p:cNvSpPr txBox="1"/>
          <p:nvPr/>
        </p:nvSpPr>
        <p:spPr>
          <a:xfrm>
            <a:off x="548640" y="320040"/>
            <a:ext cx="8046720" cy="914400"/>
          </a:xfrm>
          <a:prstGeom prst="rect">
            <a:avLst/>
          </a:prstGeom>
          <a:noFill/>
        </p:spPr>
        <p:txBody>
          <a:bodyPr wrap="none">
            <a:spAutoFit/>
          </a:bodyPr>
          <a:lstStyle/>
          <a:p>
            <a:r>
              <a:rPr sz="3600" b="1">
                <a:solidFill>
                  <a:srgbClr val="ECF3EF"/>
                </a:solidFill>
              </a:rPr>
              <a:t>9. Игровой процесс в реальном времени</a:t>
            </a:r>
          </a:p>
        </p:txBody>
      </p:sp>
      <p:sp>
        <p:nvSpPr>
          <p:cNvPr id="3" name="TextBox 2"/>
          <p:cNvSpPr txBox="1"/>
          <p:nvPr/>
        </p:nvSpPr>
        <p:spPr>
          <a:xfrm>
            <a:off x="566928" y="1143000"/>
            <a:ext cx="10607040" cy="640080"/>
          </a:xfrm>
          <a:prstGeom prst="rect">
            <a:avLst/>
          </a:prstGeom>
          <a:noFill/>
        </p:spPr>
        <p:txBody>
          <a:bodyPr wrap="none">
            <a:spAutoFit/>
          </a:bodyPr>
          <a:lstStyle/>
          <a:p>
            <a:r>
              <a:rPr sz="1600">
                <a:solidFill>
                  <a:srgbClr val="A8B2AC"/>
                </a:solidFill>
              </a:rPr>
              <a:t>Что происходит после подготовки</a:t>
            </a:r>
          </a:p>
        </p:txBody>
      </p:sp>
      <p:sp>
        <p:nvSpPr>
          <p:cNvPr id="4" name="Rounded Rectangle 3"/>
          <p:cNvSpPr/>
          <p:nvPr/>
        </p:nvSpPr>
        <p:spPr>
          <a:xfrm>
            <a:off x="548640" y="1737360"/>
            <a:ext cx="4663440" cy="1828800"/>
          </a:xfrm>
          <a:prstGeom prst="roundRect">
            <a:avLst/>
          </a:prstGeom>
          <a:solidFill>
            <a:srgbClr val="101822"/>
          </a:solidFill>
          <a:ln w="15240">
            <a:solidFill>
              <a:srgbClr val="283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400">
                <a:solidFill>
                  <a:srgbClr val="ECF3EF"/>
                </a:solidFill>
              </a:defRPr>
            </a:pPr>
            <a:r>
              <a:t>Система показывает видеопоток, распознанных игроков и статус соединения.</a:t>
            </a:r>
          </a:p>
          <a:p>
            <a:pPr>
              <a:spcAft>
                <a:spcPts val="800"/>
              </a:spcAft>
              <a:defRPr sz="1400">
                <a:solidFill>
                  <a:srgbClr val="ECF3EF"/>
                </a:solidFill>
              </a:defRPr>
            </a:pPr>
            <a:r>
              <a:t>Это база для автоматического контроля этапов, времени и событий партии.</a:t>
            </a:r>
          </a:p>
        </p:txBody>
      </p:sp>
      <p:sp>
        <p:nvSpPr>
          <p:cNvPr id="5" name="Rounded Rectangle 4"/>
          <p:cNvSpPr/>
          <p:nvPr/>
        </p:nvSpPr>
        <p:spPr>
          <a:xfrm>
            <a:off x="5440680" y="1737360"/>
            <a:ext cx="6172200" cy="4526280"/>
          </a:xfrm>
          <a:prstGeom prst="roundRect">
            <a:avLst/>
          </a:prstGeom>
          <a:solidFill>
            <a:srgbClr val="19222D"/>
          </a:solidFill>
          <a:ln w="22860">
            <a:solidFill>
              <a:srgbClr val="2FD98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2FD988"/>
                </a:solidFill>
              </a:rPr>
              <a:t>МЕСТО ДЛЯ ИЗОБРАЖЕНИЯ</a:t>
            </a:r>
          </a:p>
          <a:p>
            <a:pPr algn="ctr">
              <a:defRPr sz="1200">
                <a:solidFill>
                  <a:srgbClr val="B0E2C8"/>
                </a:solidFill>
              </a:defRPr>
            </a:pPr>
            <a:r>
              <a:t>Live-dashboard игрового процесса</a:t>
            </a:r>
          </a:p>
        </p:txBody>
      </p:sp>
      <p:sp>
        <p:nvSpPr>
          <p:cNvPr id="6" name="Rounded Rectangle 5"/>
          <p:cNvSpPr/>
          <p:nvPr/>
        </p:nvSpPr>
        <p:spPr>
          <a:xfrm>
            <a:off x="5669280" y="5852160"/>
            <a:ext cx="5669280" cy="347472"/>
          </a:xfrm>
          <a:prstGeom prst="roundRect">
            <a:avLst/>
          </a:prstGeom>
          <a:solidFill>
            <a:srgbClr val="182A28"/>
          </a:solidFill>
          <a:ln>
            <a:solidFill>
              <a:srgbClr val="3A7E6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AEEACC"/>
                </a:solidFill>
              </a:defRPr>
            </a:pPr>
            <a:r>
              <a:t>Генерируй картинку по промпту из заметок к слайду</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0C12"/>
        </a:solidFill>
        <a:effectLst/>
      </p:bgPr>
    </p:bg>
    <p:spTree>
      <p:nvGrpSpPr>
        <p:cNvPr id="1" name=""/>
        <p:cNvGrpSpPr/>
        <p:nvPr/>
      </p:nvGrpSpPr>
      <p:grpSpPr/>
      <p:sp>
        <p:nvSpPr>
          <p:cNvPr id="2" name="TextBox 1"/>
          <p:cNvSpPr txBox="1"/>
          <p:nvPr/>
        </p:nvSpPr>
        <p:spPr>
          <a:xfrm>
            <a:off x="548640" y="320040"/>
            <a:ext cx="8046720" cy="914400"/>
          </a:xfrm>
          <a:prstGeom prst="rect">
            <a:avLst/>
          </a:prstGeom>
          <a:noFill/>
        </p:spPr>
        <p:txBody>
          <a:bodyPr wrap="none">
            <a:spAutoFit/>
          </a:bodyPr>
          <a:lstStyle/>
          <a:p>
            <a:r>
              <a:rPr sz="3600" b="1">
                <a:solidFill>
                  <a:srgbClr val="ECF3EF"/>
                </a:solidFill>
              </a:rPr>
              <a:t>10. Что внутри системы</a:t>
            </a:r>
          </a:p>
        </p:txBody>
      </p:sp>
      <p:sp>
        <p:nvSpPr>
          <p:cNvPr id="3" name="TextBox 2"/>
          <p:cNvSpPr txBox="1"/>
          <p:nvPr/>
        </p:nvSpPr>
        <p:spPr>
          <a:xfrm>
            <a:off x="566928" y="1143000"/>
            <a:ext cx="10607040" cy="640080"/>
          </a:xfrm>
          <a:prstGeom prst="rect">
            <a:avLst/>
          </a:prstGeom>
          <a:noFill/>
        </p:spPr>
        <p:txBody>
          <a:bodyPr wrap="none">
            <a:spAutoFit/>
          </a:bodyPr>
          <a:lstStyle/>
          <a:p>
            <a:r>
              <a:rPr sz="1600">
                <a:solidFill>
                  <a:srgbClr val="A8B2AC"/>
                </a:solidFill>
              </a:rPr>
              <a:t>Архитектура простыми блоками</a:t>
            </a:r>
          </a:p>
        </p:txBody>
      </p:sp>
      <p:sp>
        <p:nvSpPr>
          <p:cNvPr id="4" name="Rounded Rectangle 3"/>
          <p:cNvSpPr/>
          <p:nvPr/>
        </p:nvSpPr>
        <p:spPr>
          <a:xfrm>
            <a:off x="548640" y="1737360"/>
            <a:ext cx="4663440" cy="1828800"/>
          </a:xfrm>
          <a:prstGeom prst="roundRect">
            <a:avLst/>
          </a:prstGeom>
          <a:solidFill>
            <a:srgbClr val="101822"/>
          </a:solidFill>
          <a:ln w="15240">
            <a:solidFill>
              <a:srgbClr val="283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400">
                <a:solidFill>
                  <a:srgbClr val="ECF3EF"/>
                </a:solidFill>
              </a:defRPr>
            </a:pPr>
            <a:r>
              <a:t>Frontend показывает интерфейс, Backend управляет логикой, AI-модули распознают данные.</a:t>
            </a:r>
          </a:p>
          <a:p>
            <a:pPr>
              <a:spcAft>
                <a:spcPts val="800"/>
              </a:spcAft>
              <a:defRPr sz="1400">
                <a:solidFill>
                  <a:srgbClr val="ECF3EF"/>
                </a:solidFill>
              </a:defRPr>
            </a:pPr>
            <a:r>
              <a:t>Блоки связаны через API и real-time соединение.</a:t>
            </a:r>
          </a:p>
        </p:txBody>
      </p:sp>
      <p:sp>
        <p:nvSpPr>
          <p:cNvPr id="5" name="Rounded Rectangle 4"/>
          <p:cNvSpPr/>
          <p:nvPr/>
        </p:nvSpPr>
        <p:spPr>
          <a:xfrm>
            <a:off x="5440680" y="1737360"/>
            <a:ext cx="6172200" cy="4526280"/>
          </a:xfrm>
          <a:prstGeom prst="roundRect">
            <a:avLst/>
          </a:prstGeom>
          <a:solidFill>
            <a:srgbClr val="19222D"/>
          </a:solidFill>
          <a:ln w="22860">
            <a:solidFill>
              <a:srgbClr val="2FD98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2FD988"/>
                </a:solidFill>
              </a:rPr>
              <a:t>МЕСТО ДЛЯ ИЗОБРАЖЕНИЯ</a:t>
            </a:r>
          </a:p>
          <a:p>
            <a:pPr algn="ctr">
              <a:defRPr sz="1200">
                <a:solidFill>
                  <a:srgbClr val="B0E2C8"/>
                </a:solidFill>
              </a:defRPr>
            </a:pPr>
            <a:r>
              <a:t>Простая архитектурная схема</a:t>
            </a:r>
          </a:p>
        </p:txBody>
      </p:sp>
      <p:sp>
        <p:nvSpPr>
          <p:cNvPr id="6" name="Rounded Rectangle 5"/>
          <p:cNvSpPr/>
          <p:nvPr/>
        </p:nvSpPr>
        <p:spPr>
          <a:xfrm>
            <a:off x="5669280" y="5852160"/>
            <a:ext cx="5669280" cy="347472"/>
          </a:xfrm>
          <a:prstGeom prst="roundRect">
            <a:avLst/>
          </a:prstGeom>
          <a:solidFill>
            <a:srgbClr val="182A28"/>
          </a:solidFill>
          <a:ln>
            <a:solidFill>
              <a:srgbClr val="3A7E6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AEEACC"/>
                </a:solidFill>
              </a:defRPr>
            </a:pPr>
            <a:r>
              <a:t>Генерируй картинку по промпту из заметок к слайду</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80C12"/>
        </a:solidFill>
        <a:effectLst/>
      </p:bgPr>
    </p:bg>
    <p:spTree>
      <p:nvGrpSpPr>
        <p:cNvPr id="1" name=""/>
        <p:cNvGrpSpPr/>
        <p:nvPr/>
      </p:nvGrpSpPr>
      <p:grpSpPr/>
      <p:sp>
        <p:nvSpPr>
          <p:cNvPr id="2" name="TextBox 1"/>
          <p:cNvSpPr txBox="1"/>
          <p:nvPr/>
        </p:nvSpPr>
        <p:spPr>
          <a:xfrm>
            <a:off x="548640" y="320040"/>
            <a:ext cx="8046720" cy="914400"/>
          </a:xfrm>
          <a:prstGeom prst="rect">
            <a:avLst/>
          </a:prstGeom>
          <a:noFill/>
        </p:spPr>
        <p:txBody>
          <a:bodyPr wrap="none">
            <a:spAutoFit/>
          </a:bodyPr>
          <a:lstStyle/>
          <a:p>
            <a:r>
              <a:rPr sz="3600" b="1">
                <a:solidFill>
                  <a:srgbClr val="ECF3EF"/>
                </a:solidFill>
              </a:rPr>
              <a:t>11. Польза и результат</a:t>
            </a:r>
          </a:p>
        </p:txBody>
      </p:sp>
      <p:sp>
        <p:nvSpPr>
          <p:cNvPr id="3" name="TextBox 2"/>
          <p:cNvSpPr txBox="1"/>
          <p:nvPr/>
        </p:nvSpPr>
        <p:spPr>
          <a:xfrm>
            <a:off x="566928" y="1143000"/>
            <a:ext cx="10607040" cy="640080"/>
          </a:xfrm>
          <a:prstGeom prst="rect">
            <a:avLst/>
          </a:prstGeom>
          <a:noFill/>
        </p:spPr>
        <p:txBody>
          <a:bodyPr wrap="none">
            <a:spAutoFit/>
          </a:bodyPr>
          <a:lstStyle/>
          <a:p>
            <a:r>
              <a:rPr sz="1600">
                <a:solidFill>
                  <a:srgbClr val="A8B2AC"/>
                </a:solidFill>
              </a:rPr>
              <a:t>Что проект дает на практике</a:t>
            </a:r>
          </a:p>
        </p:txBody>
      </p:sp>
      <p:sp>
        <p:nvSpPr>
          <p:cNvPr id="4" name="Rounded Rectangle 3"/>
          <p:cNvSpPr/>
          <p:nvPr/>
        </p:nvSpPr>
        <p:spPr>
          <a:xfrm>
            <a:off x="548640" y="1737360"/>
            <a:ext cx="4663440" cy="1828800"/>
          </a:xfrm>
          <a:prstGeom prst="roundRect">
            <a:avLst/>
          </a:prstGeom>
          <a:solidFill>
            <a:srgbClr val="101822"/>
          </a:solidFill>
          <a:ln w="15240">
            <a:solidFill>
              <a:srgbClr val="283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400">
                <a:solidFill>
                  <a:srgbClr val="ECF3EF"/>
                </a:solidFill>
              </a:defRPr>
            </a:pPr>
            <a:r>
              <a:t>Меньше спорных ситуаций, выше темп игры, более объективный контроль.</a:t>
            </a:r>
          </a:p>
          <a:p>
            <a:pPr>
              <a:spcAft>
                <a:spcPts val="800"/>
              </a:spcAft>
              <a:defRPr sz="1400">
                <a:solidFill>
                  <a:srgbClr val="ECF3EF"/>
                </a:solidFill>
              </a:defRPr>
            </a:pPr>
            <a:r>
              <a:t>Проект демонстрирует реальное применение AI в командном развлечении.</a:t>
            </a:r>
          </a:p>
        </p:txBody>
      </p:sp>
      <p:sp>
        <p:nvSpPr>
          <p:cNvPr id="5" name="Rounded Rectangle 4"/>
          <p:cNvSpPr/>
          <p:nvPr/>
        </p:nvSpPr>
        <p:spPr>
          <a:xfrm>
            <a:off x="5440680" y="1737360"/>
            <a:ext cx="6172200" cy="4526280"/>
          </a:xfrm>
          <a:prstGeom prst="roundRect">
            <a:avLst/>
          </a:prstGeom>
          <a:solidFill>
            <a:srgbClr val="19222D"/>
          </a:solidFill>
          <a:ln w="22860">
            <a:solidFill>
              <a:srgbClr val="2FD98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2FD988"/>
                </a:solidFill>
              </a:rPr>
              <a:t>МЕСТО ДЛЯ ИЗОБРАЖЕНИЯ</a:t>
            </a:r>
          </a:p>
          <a:p>
            <a:pPr algn="ctr">
              <a:defRPr sz="1200">
                <a:solidFill>
                  <a:srgbClr val="B0E2C8"/>
                </a:solidFill>
              </a:defRPr>
            </a:pPr>
            <a:r>
              <a:t>Коллаж выгод продукта</a:t>
            </a:r>
          </a:p>
        </p:txBody>
      </p:sp>
      <p:sp>
        <p:nvSpPr>
          <p:cNvPr id="6" name="Rounded Rectangle 5"/>
          <p:cNvSpPr/>
          <p:nvPr/>
        </p:nvSpPr>
        <p:spPr>
          <a:xfrm>
            <a:off x="5669280" y="5852160"/>
            <a:ext cx="5669280" cy="347472"/>
          </a:xfrm>
          <a:prstGeom prst="roundRect">
            <a:avLst/>
          </a:prstGeom>
          <a:solidFill>
            <a:srgbClr val="182A28"/>
          </a:solidFill>
          <a:ln>
            <a:solidFill>
              <a:srgbClr val="3A7E6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AEEACC"/>
                </a:solidFill>
              </a:defRPr>
            </a:pPr>
            <a:r>
              <a:t>Генерируй картинку по промпту из заметок к слайду</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80C12"/>
        </a:solidFill>
        <a:effectLst/>
      </p:bgPr>
    </p:bg>
    <p:spTree>
      <p:nvGrpSpPr>
        <p:cNvPr id="1" name=""/>
        <p:cNvGrpSpPr/>
        <p:nvPr/>
      </p:nvGrpSpPr>
      <p:grpSpPr/>
      <p:sp>
        <p:nvSpPr>
          <p:cNvPr id="2" name="TextBox 1"/>
          <p:cNvSpPr txBox="1"/>
          <p:nvPr/>
        </p:nvSpPr>
        <p:spPr>
          <a:xfrm>
            <a:off x="548640" y="320040"/>
            <a:ext cx="8046720" cy="914400"/>
          </a:xfrm>
          <a:prstGeom prst="rect">
            <a:avLst/>
          </a:prstGeom>
          <a:noFill/>
        </p:spPr>
        <p:txBody>
          <a:bodyPr wrap="none">
            <a:spAutoFit/>
          </a:bodyPr>
          <a:lstStyle/>
          <a:p>
            <a:r>
              <a:rPr sz="3600" b="1">
                <a:solidFill>
                  <a:srgbClr val="ECF3EF"/>
                </a:solidFill>
              </a:rPr>
              <a:t>12. Ограничения и развитие</a:t>
            </a:r>
          </a:p>
        </p:txBody>
      </p:sp>
      <p:sp>
        <p:nvSpPr>
          <p:cNvPr id="3" name="TextBox 2"/>
          <p:cNvSpPr txBox="1"/>
          <p:nvPr/>
        </p:nvSpPr>
        <p:spPr>
          <a:xfrm>
            <a:off x="566928" y="1143000"/>
            <a:ext cx="10607040" cy="640080"/>
          </a:xfrm>
          <a:prstGeom prst="rect">
            <a:avLst/>
          </a:prstGeom>
          <a:noFill/>
        </p:spPr>
        <p:txBody>
          <a:bodyPr wrap="none">
            <a:spAutoFit/>
          </a:bodyPr>
          <a:lstStyle/>
          <a:p>
            <a:r>
              <a:rPr sz="1600">
                <a:solidFill>
                  <a:srgbClr val="A8B2AC"/>
                </a:solidFill>
              </a:rPr>
              <a:t>Что уже сделано и что можно улучшить</a:t>
            </a:r>
          </a:p>
        </p:txBody>
      </p:sp>
      <p:sp>
        <p:nvSpPr>
          <p:cNvPr id="4" name="Rounded Rectangle 3"/>
          <p:cNvSpPr/>
          <p:nvPr/>
        </p:nvSpPr>
        <p:spPr>
          <a:xfrm>
            <a:off x="548640" y="1737360"/>
            <a:ext cx="4663440" cy="1828800"/>
          </a:xfrm>
          <a:prstGeom prst="roundRect">
            <a:avLst/>
          </a:prstGeom>
          <a:solidFill>
            <a:srgbClr val="101822"/>
          </a:solidFill>
          <a:ln w="15240">
            <a:solidFill>
              <a:srgbClr val="283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400">
                <a:solidFill>
                  <a:srgbClr val="ECF3EF"/>
                </a:solidFill>
              </a:defRPr>
            </a:pPr>
            <a:r>
              <a:t>Ограничения: шум, освещение, нагрузка на устройство.</a:t>
            </a:r>
          </a:p>
          <a:p>
            <a:pPr>
              <a:spcAft>
                <a:spcPts val="800"/>
              </a:spcAft>
              <a:defRPr sz="1400">
                <a:solidFill>
                  <a:srgbClr val="ECF3EF"/>
                </a:solidFill>
              </a:defRPr>
            </a:pPr>
            <a:r>
              <a:t>План: точнее распознавание, меньше задержки, турнирный режим, улучшение UI.</a:t>
            </a:r>
          </a:p>
        </p:txBody>
      </p:sp>
      <p:sp>
        <p:nvSpPr>
          <p:cNvPr id="5" name="Rounded Rectangle 4"/>
          <p:cNvSpPr/>
          <p:nvPr/>
        </p:nvSpPr>
        <p:spPr>
          <a:xfrm>
            <a:off x="5440680" y="1737360"/>
            <a:ext cx="6172200" cy="4526280"/>
          </a:xfrm>
          <a:prstGeom prst="roundRect">
            <a:avLst/>
          </a:prstGeom>
          <a:solidFill>
            <a:srgbClr val="19222D"/>
          </a:solidFill>
          <a:ln w="22860">
            <a:solidFill>
              <a:srgbClr val="2FD98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2FD988"/>
                </a:solidFill>
              </a:rPr>
              <a:t>МЕСТО ДЛЯ ИЗОБРАЖЕНИЯ</a:t>
            </a:r>
          </a:p>
          <a:p>
            <a:pPr algn="ctr">
              <a:defRPr sz="1200">
                <a:solidFill>
                  <a:srgbClr val="B0E2C8"/>
                </a:solidFill>
              </a:defRPr>
            </a:pPr>
            <a:r>
              <a:t>Roadmap дальнейших улучшений</a:t>
            </a:r>
          </a:p>
        </p:txBody>
      </p:sp>
      <p:sp>
        <p:nvSpPr>
          <p:cNvPr id="6" name="Rounded Rectangle 5"/>
          <p:cNvSpPr/>
          <p:nvPr/>
        </p:nvSpPr>
        <p:spPr>
          <a:xfrm>
            <a:off x="5669280" y="5852160"/>
            <a:ext cx="5669280" cy="347472"/>
          </a:xfrm>
          <a:prstGeom prst="roundRect">
            <a:avLst/>
          </a:prstGeom>
          <a:solidFill>
            <a:srgbClr val="182A28"/>
          </a:solidFill>
          <a:ln>
            <a:solidFill>
              <a:srgbClr val="3A7E6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AEEACC"/>
                </a:solidFill>
              </a:defRPr>
            </a:pPr>
            <a:r>
              <a:t>Генерируй картинку по промпту из заметок к слайду</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80C12"/>
        </a:solidFill>
        <a:effectLst/>
      </p:bgPr>
    </p:bg>
    <p:spTree>
      <p:nvGrpSpPr>
        <p:cNvPr id="1" name=""/>
        <p:cNvGrpSpPr/>
        <p:nvPr/>
      </p:nvGrpSpPr>
      <p:grpSpPr/>
      <p:sp>
        <p:nvSpPr>
          <p:cNvPr id="2" name="TextBox 1"/>
          <p:cNvSpPr txBox="1"/>
          <p:nvPr/>
        </p:nvSpPr>
        <p:spPr>
          <a:xfrm>
            <a:off x="548640" y="320040"/>
            <a:ext cx="8046720" cy="914400"/>
          </a:xfrm>
          <a:prstGeom prst="rect">
            <a:avLst/>
          </a:prstGeom>
          <a:noFill/>
        </p:spPr>
        <p:txBody>
          <a:bodyPr wrap="none">
            <a:spAutoFit/>
          </a:bodyPr>
          <a:lstStyle/>
          <a:p>
            <a:r>
              <a:rPr sz="3600" b="1">
                <a:solidFill>
                  <a:srgbClr val="ECF3EF"/>
                </a:solidFill>
              </a:rPr>
              <a:t>13. Спасибо за внимание</a:t>
            </a:r>
          </a:p>
        </p:txBody>
      </p:sp>
      <p:sp>
        <p:nvSpPr>
          <p:cNvPr id="3" name="TextBox 2"/>
          <p:cNvSpPr txBox="1"/>
          <p:nvPr/>
        </p:nvSpPr>
        <p:spPr>
          <a:xfrm>
            <a:off x="566928" y="1143000"/>
            <a:ext cx="10607040" cy="640080"/>
          </a:xfrm>
          <a:prstGeom prst="rect">
            <a:avLst/>
          </a:prstGeom>
          <a:noFill/>
        </p:spPr>
        <p:txBody>
          <a:bodyPr wrap="none">
            <a:spAutoFit/>
          </a:bodyPr>
          <a:lstStyle/>
          <a:p>
            <a:r>
              <a:rPr sz="1600">
                <a:solidFill>
                  <a:srgbClr val="A8B2AC"/>
                </a:solidFill>
              </a:rPr>
              <a:t>Mafia AI — школьный проект про AI, который можно потрогать</a:t>
            </a:r>
          </a:p>
        </p:txBody>
      </p:sp>
      <p:sp>
        <p:nvSpPr>
          <p:cNvPr id="4" name="Rounded Rectangle 3"/>
          <p:cNvSpPr/>
          <p:nvPr/>
        </p:nvSpPr>
        <p:spPr>
          <a:xfrm>
            <a:off x="548640" y="1737360"/>
            <a:ext cx="4663440" cy="1828800"/>
          </a:xfrm>
          <a:prstGeom prst="roundRect">
            <a:avLst/>
          </a:prstGeom>
          <a:solidFill>
            <a:srgbClr val="101822"/>
          </a:solidFill>
          <a:ln w="15240">
            <a:solidFill>
              <a:srgbClr val="283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400">
                <a:solidFill>
                  <a:srgbClr val="ECF3EF"/>
                </a:solidFill>
              </a:defRPr>
            </a:pPr>
            <a:r>
              <a:t>Готовы показать демо и ответить на вопросы.</a:t>
            </a:r>
          </a:p>
          <a:p>
            <a:pPr>
              <a:spcAft>
                <a:spcPts val="800"/>
              </a:spcAft>
              <a:defRPr sz="1400">
                <a:solidFill>
                  <a:srgbClr val="ECF3EF"/>
                </a:solidFill>
              </a:defRPr>
            </a:pPr>
            <a:r>
              <a:t>Ключевая мысль: AI полезен, когда решает понятную задачу для людей.</a:t>
            </a:r>
          </a:p>
        </p:txBody>
      </p:sp>
      <p:sp>
        <p:nvSpPr>
          <p:cNvPr id="5" name="Rounded Rectangle 4"/>
          <p:cNvSpPr/>
          <p:nvPr/>
        </p:nvSpPr>
        <p:spPr>
          <a:xfrm>
            <a:off x="5440680" y="1737360"/>
            <a:ext cx="6172200" cy="4526280"/>
          </a:xfrm>
          <a:prstGeom prst="roundRect">
            <a:avLst/>
          </a:prstGeom>
          <a:solidFill>
            <a:srgbClr val="19222D"/>
          </a:solidFill>
          <a:ln w="22860">
            <a:solidFill>
              <a:srgbClr val="2FD98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2FD988"/>
                </a:solidFill>
              </a:rPr>
              <a:t>МЕСТО ДЛЯ ИЗОБРАЖЕНИЯ</a:t>
            </a:r>
          </a:p>
          <a:p>
            <a:pPr algn="ctr">
              <a:defRPr sz="1200">
                <a:solidFill>
                  <a:srgbClr val="B0E2C8"/>
                </a:solidFill>
              </a:defRPr>
            </a:pPr>
            <a:r>
              <a:t>Финальный кадр: команда и демонстрация проекта</a:t>
            </a:r>
          </a:p>
        </p:txBody>
      </p:sp>
      <p:sp>
        <p:nvSpPr>
          <p:cNvPr id="6" name="Rounded Rectangle 5"/>
          <p:cNvSpPr/>
          <p:nvPr/>
        </p:nvSpPr>
        <p:spPr>
          <a:xfrm>
            <a:off x="5669280" y="5852160"/>
            <a:ext cx="5669280" cy="347472"/>
          </a:xfrm>
          <a:prstGeom prst="roundRect">
            <a:avLst/>
          </a:prstGeom>
          <a:solidFill>
            <a:srgbClr val="182A28"/>
          </a:solidFill>
          <a:ln>
            <a:solidFill>
              <a:srgbClr val="3A7E6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AEEACC"/>
                </a:solidFill>
              </a:defRPr>
            </a:pPr>
            <a:r>
              <a:t>Генерируй картинку по промпту из заметок к слайду</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