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clean white background, educational poster style, students presenting a software project, laptop with simple dashboard mockup, collaborative mood, minimal flat illustration, soft blue-gray accents, no neon, no futuristic effects, no text, 16:9</a:t>
            </a:r>
          </a:p>
          <a:p/>
          <a:p>
            <a:r>
              <a:t>ЧТО ГОВОРИТЬ НА СЛАЙДЕ (20-30 сек):</a:t>
            </a:r>
          </a:p>
          <a:p>
            <a:r>
              <a:t>В этой презентации мы делаем акцент на том, какие технологии изучили и как применили их на практике.</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simple infographic on white background, board game moderation challenges illustrated with icons: timer, speaking order, fairness, and a student notebook with AI labels, minimal style, academic clean layout, soft blue accents, no neon, no text, 16:9</a:t>
            </a:r>
          </a:p>
          <a:p/>
          <a:p>
            <a:r>
              <a:t>ЧТО ГОВОРИТЬ НА СЛАЙДЕ (20-30 сек):</a:t>
            </a:r>
          </a:p>
          <a:p>
            <a:r>
              <a:t>Мы выбрали проект так, чтобы каждая часть давала новый технический навык, а не просто красивый интерфейс.</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clean white competency map diagram, three branches: computer vision, audio processing, web architecture, each branch with simple icons and connectors, academic presentation style, minimal vector graphics, no neon, no futuristic effects, no text, 16:9</a:t>
            </a:r>
          </a:p>
          <a:p/>
          <a:p>
            <a:r>
              <a:t>ЧТО ГОВОРИТЬ НА СЛАЙДЕ (20-30 сек):</a:t>
            </a:r>
          </a:p>
          <a:p>
            <a:r>
              <a:t>На старте мы зафиксировали не только функциональные, но и учебные цели — это помогало оценивать прогресс.</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clean architecture map on white background with labeled blocks style but without text rendered, web frontend block, backend api block, ai modules block, data storage block, arrows between blocks, corporate training infographic style, no neon, 16:9</a:t>
            </a:r>
          </a:p>
          <a:p/>
          <a:p>
            <a:r>
              <a:t>ЧТО ГОВОРИТЬ НА СЛАЙДЕ (20-30 сек):</a:t>
            </a:r>
          </a:p>
          <a:p>
            <a:r>
              <a:t>Важно, что мы работали не с одной библиотекой, а со связкой технологий, как в реальном проекте.</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educational computer vision pipeline diagram on white background: camera frame input, face detection box, feature extraction vectors, matching stage, output identity tag icon, clean minimal infographic, blue-gray palette, no neon, 16:9</a:t>
            </a:r>
          </a:p>
          <a:p/>
          <a:p>
            <a:r>
              <a:t>ЧТО ГОВОРИТЬ НА СЛАЙДЕ (20-30 сек):</a:t>
            </a:r>
          </a:p>
          <a:p>
            <a:r>
              <a:t>Основная мысль: система не “угадывает по фото”, а сравнивает числовые признаки, которые извлекаются из кадра.</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white background process diagram, two branches: face enrollment and face identification, quality checks, confidence threshold concept, clean business infographic look, simple icons, no neon or futuristic effects, no text, 16:9</a:t>
            </a:r>
          </a:p>
          <a:p/>
          <a:p>
            <a:r>
              <a:t>ЧТО ГОВОРИТЬ НА СЛАЙДЕ (20-30 сек):</a:t>
            </a:r>
          </a:p>
          <a:p>
            <a:r>
              <a:t>Мы увидели, что алгоритм — это только часть задачи. Не меньше важны параметры, пороги и качество входных данных.</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clean white audio pipeline infographic, microphone input, waveform chunks, speaker profile matching branch, speech-to-text branch, merged output card, minimal academic style, soft blue and gray colors, no neon, 16:9</a:t>
            </a:r>
          </a:p>
          <a:p/>
          <a:p>
            <a:r>
              <a:t>ЧТО ГОВОРИТЬ НА СЛАЙДЕ (20-30 сек):</a:t>
            </a:r>
          </a:p>
          <a:p>
            <a:r>
              <a:t>Мы разделили задачу на две: идентификация спикера и распознавание текста, потому что это разные алгоритмы и разные ошибки.</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white background engineering tradeoff chart illustration, balance scale between latency and accuracy, streaming queue and chunk timing icons, clean technical infographic style, no neon, no futuristic, no text, 16:9</a:t>
            </a:r>
          </a:p>
          <a:p/>
          <a:p>
            <a:r>
              <a:t>ЧТО ГОВОРИТЬ НА СЛАЙДЕ (20-30 сек):</a:t>
            </a:r>
          </a:p>
          <a:p>
            <a:r>
              <a:t>Один из главных технических уроков — всегда есть компромисс между скоростью и точностью.</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clean white ui mockup style image, camera frame with table polygon overlay, auto detect button concept and manual point editing concept, minimal design, educational software screenshot style, no neon, 16:9</a:t>
            </a:r>
          </a:p>
          <a:p/>
          <a:p>
            <a:r>
              <a:t>ЧТО ГОВОРИТЬ НА СЛАЙДЕ (20-30 сек):</a:t>
            </a:r>
          </a:p>
          <a:p>
            <a:r>
              <a:t>Этот модуль показал, что даже простая геометрия сильно влияет на корректность всей системы.</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clean layered architecture infographic on white background, presentation layer, api layer, application logic layer, infrastructure layer, arrows down, minimal flat style, soft neutral palette, no neon, no futuristic effects, no text, 16:9</a:t>
            </a:r>
          </a:p>
          <a:p/>
          <a:p>
            <a:r>
              <a:t>ЧТО ГОВОРИТЬ НА СЛАЙДЕ (20-30 сек):</a:t>
            </a:r>
          </a:p>
          <a:p>
            <a:r>
              <a:t>Архитектурное разделение помогло нам не запутаться и быстрее находить ошибки в конкретных частях системы.</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white background engineering iteration cycle diagram: hypothesis, experiment, logs, fix, retest, simple arrows in loop, notebook and terminal icons, clean educational infographic, no neon, 16:9</a:t>
            </a:r>
          </a:p>
          <a:p/>
          <a:p>
            <a:r>
              <a:t>ЧТО ГОВОРИТЬ НА СЛАЙДЕ (20-30 сек):</a:t>
            </a:r>
          </a:p>
          <a:p>
            <a:r>
              <a:t>Здесь мы получили самый важный практический опыт: как системно разбирать и исправлять технические проблемы.</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clean white summary infographic with skill icons: computer vision, speech processing, backend api, frontend ui, debugging, teamwork, educational style, minimal layout, no neon, no futuristic effects, no text, 16:9</a:t>
            </a:r>
          </a:p>
          <a:p/>
          <a:p>
            <a:r>
              <a:t>ЧТО ГОВОРИТЬ НА СЛАЙДЕ (20-30 сек):</a:t>
            </a:r>
          </a:p>
          <a:p>
            <a:r>
              <a:t>Если кратко: этот проект дал нам не только демо-продукт, а полноценный набор практических инженерных навыков.</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ПРОМПТ ДЛЯ КАРТИНКИ:</a:t>
            </a:r>
          </a:p>
          <a:p>
            <a:r>
              <a:t>clean white closing slide illustration, students presenting project outcomes to audience, simple charts and mockups on screen, positive academic atmosphere, minimalist style, no neon, no futuristic effects, no text, 16:9</a:t>
            </a:r>
          </a:p>
          <a:p/>
          <a:p>
            <a:r>
              <a:t>ЧТО ГОВОРИТЬ НА СЛАЙДЕ (20-30 сек):</a:t>
            </a:r>
          </a:p>
          <a:p>
            <a:r>
              <a:t>Для нас это в первую очередь учебный исследовательский проект, который помог перевести теорию в работающую систему.</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961120" cy="914400"/>
          </a:xfrm>
          <a:prstGeom prst="rect">
            <a:avLst/>
          </a:prstGeom>
          <a:noFill/>
        </p:spPr>
        <p:txBody>
          <a:bodyPr wrap="none">
            <a:spAutoFit/>
          </a:bodyPr>
          <a:lstStyle/>
          <a:p>
            <a:r>
              <a:rPr sz="3400" b="1">
                <a:solidFill>
                  <a:srgbClr val="1A202C"/>
                </a:solidFill>
              </a:rPr>
              <a:t>1. MAFIA AI</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4A5568"/>
                </a:solidFill>
              </a:rPr>
              <a:t>Учебный проект: изучение AI-технологий на практическом кейсе</a:t>
            </a:r>
          </a:p>
        </p:txBody>
      </p:sp>
      <p:sp>
        <p:nvSpPr>
          <p:cNvPr id="4" name="Rounded Rectangle 3"/>
          <p:cNvSpPr/>
          <p:nvPr/>
        </p:nvSpPr>
        <p:spPr>
          <a:xfrm>
            <a:off x="548640" y="1737360"/>
            <a:ext cx="4846320" cy="2194560"/>
          </a:xfrm>
          <a:prstGeom prst="roundRect">
            <a:avLst/>
          </a:prstGeom>
          <a:solidFill>
            <a:srgbClr val="F7F9FC"/>
          </a:solidFill>
          <a:ln w="1397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1A202C"/>
                </a:solidFill>
              </a:defRPr>
            </a:pPr>
            <a:r>
              <a:t>Главный результат проекта — не только продукт, а понимание технологий.</a:t>
            </a:r>
          </a:p>
          <a:p>
            <a:pPr>
              <a:spcAft>
                <a:spcPts val="800"/>
              </a:spcAft>
              <a:defRPr sz="1400">
                <a:solidFill>
                  <a:srgbClr val="1A202C"/>
                </a:solidFill>
              </a:defRPr>
            </a:pPr>
            <a:r>
              <a:t>Игра «Мафия» используется как удобный сценарий для проверки гипотез.</a:t>
            </a:r>
          </a:p>
        </p:txBody>
      </p:sp>
      <p:sp>
        <p:nvSpPr>
          <p:cNvPr id="5" name="Rounded Rectangle 4"/>
          <p:cNvSpPr/>
          <p:nvPr/>
        </p:nvSpPr>
        <p:spPr>
          <a:xfrm>
            <a:off x="5532120" y="1737360"/>
            <a:ext cx="5989320" cy="4526280"/>
          </a:xfrm>
          <a:prstGeom prst="roundRect">
            <a:avLst/>
          </a:prstGeom>
          <a:solidFill>
            <a:srgbClr val="EDF2F7"/>
          </a:solidFill>
          <a:ln w="165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2B6CB0"/>
                </a:solidFill>
              </a:rPr>
              <a:t>МЕСТО ДЛЯ ИЗОБРАЖЕНИЯ</a:t>
            </a:r>
          </a:p>
          <a:p>
            <a:pPr algn="ctr">
              <a:defRPr sz="1200">
                <a:solidFill>
                  <a:srgbClr val="4A5568"/>
                </a:solidFill>
              </a:defRPr>
            </a:pPr>
            <a:r>
              <a:t>Титульная иллюстрация: команда + исследовательский процесс</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961120" cy="914400"/>
          </a:xfrm>
          <a:prstGeom prst="rect">
            <a:avLst/>
          </a:prstGeom>
          <a:noFill/>
        </p:spPr>
        <p:txBody>
          <a:bodyPr wrap="none">
            <a:spAutoFit/>
          </a:bodyPr>
          <a:lstStyle/>
          <a:p>
            <a:r>
              <a:rPr sz="3400" b="1">
                <a:solidFill>
                  <a:srgbClr val="1A202C"/>
                </a:solidFill>
              </a:rPr>
              <a:t>2. Зачем этот проект</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4A5568"/>
                </a:solidFill>
              </a:rPr>
              <a:t>Проект как учебная площадка по AI и разработке</a:t>
            </a:r>
          </a:p>
        </p:txBody>
      </p:sp>
      <p:sp>
        <p:nvSpPr>
          <p:cNvPr id="4" name="Rounded Rectangle 3"/>
          <p:cNvSpPr/>
          <p:nvPr/>
        </p:nvSpPr>
        <p:spPr>
          <a:xfrm>
            <a:off x="548640" y="1737360"/>
            <a:ext cx="4846320" cy="2194560"/>
          </a:xfrm>
          <a:prstGeom prst="roundRect">
            <a:avLst/>
          </a:prstGeom>
          <a:solidFill>
            <a:srgbClr val="F7F9FC"/>
          </a:solidFill>
          <a:ln w="1397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1A202C"/>
                </a:solidFill>
              </a:defRPr>
            </a:pPr>
            <a:r>
              <a:t>Нам нужен был реальный кейс, где есть видео, аудио и логика принятия решений.</a:t>
            </a:r>
          </a:p>
          <a:p>
            <a:pPr>
              <a:spcAft>
                <a:spcPts val="800"/>
              </a:spcAft>
              <a:defRPr sz="1400">
                <a:solidFill>
                  <a:srgbClr val="1A202C"/>
                </a:solidFill>
              </a:defRPr>
            </a:pPr>
            <a:r>
              <a:t>Поэтому выбрали «Мафию»: тут можно изучать сразу несколько технологий.</a:t>
            </a:r>
          </a:p>
        </p:txBody>
      </p:sp>
      <p:sp>
        <p:nvSpPr>
          <p:cNvPr id="5" name="Rounded Rectangle 4"/>
          <p:cNvSpPr/>
          <p:nvPr/>
        </p:nvSpPr>
        <p:spPr>
          <a:xfrm>
            <a:off x="5532120" y="1737360"/>
            <a:ext cx="5989320" cy="4526280"/>
          </a:xfrm>
          <a:prstGeom prst="roundRect">
            <a:avLst/>
          </a:prstGeom>
          <a:solidFill>
            <a:srgbClr val="EDF2F7"/>
          </a:solidFill>
          <a:ln w="165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2B6CB0"/>
                </a:solidFill>
              </a:rPr>
              <a:t>МЕСТО ДЛЯ ИЗОБРАЖЕНИЯ</a:t>
            </a:r>
          </a:p>
          <a:p>
            <a:pPr algn="ctr">
              <a:defRPr sz="1200">
                <a:solidFill>
                  <a:srgbClr val="4A5568"/>
                </a:solidFill>
              </a:defRPr>
            </a:pPr>
            <a:r>
              <a:t>Проблемная ситуация и учебная мотивация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961120" cy="914400"/>
          </a:xfrm>
          <a:prstGeom prst="rect">
            <a:avLst/>
          </a:prstGeom>
          <a:noFill/>
        </p:spPr>
        <p:txBody>
          <a:bodyPr wrap="none">
            <a:spAutoFit/>
          </a:bodyPr>
          <a:lstStyle/>
          <a:p>
            <a:r>
              <a:rPr sz="3400" b="1">
                <a:solidFill>
                  <a:srgbClr val="1A202C"/>
                </a:solidFill>
              </a:rPr>
              <a:t>3. Учебные цели</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4A5568"/>
                </a:solidFill>
              </a:rPr>
              <a:t>Что именно мы хотели освоить</a:t>
            </a:r>
          </a:p>
        </p:txBody>
      </p:sp>
      <p:sp>
        <p:nvSpPr>
          <p:cNvPr id="4" name="Rounded Rectangle 3"/>
          <p:cNvSpPr/>
          <p:nvPr/>
        </p:nvSpPr>
        <p:spPr>
          <a:xfrm>
            <a:off x="548640" y="1737360"/>
            <a:ext cx="4846320" cy="2194560"/>
          </a:xfrm>
          <a:prstGeom prst="roundRect">
            <a:avLst/>
          </a:prstGeom>
          <a:solidFill>
            <a:srgbClr val="F7F9FC"/>
          </a:solidFill>
          <a:ln w="1397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1A202C"/>
                </a:solidFill>
              </a:defRPr>
            </a:pPr>
            <a:r>
              <a:t>Компьютерное зрение: лица, положение объектов, обработка потока с камеры.</a:t>
            </a:r>
          </a:p>
          <a:p>
            <a:pPr>
              <a:spcAft>
                <a:spcPts val="800"/>
              </a:spcAft>
              <a:defRPr sz="1400">
                <a:solidFill>
                  <a:srgbClr val="1A202C"/>
                </a:solidFill>
              </a:defRPr>
            </a:pPr>
            <a:r>
              <a:t>Обработка звука: идентификация голоса и распознавание речи.</a:t>
            </a:r>
          </a:p>
          <a:p>
            <a:pPr>
              <a:spcAft>
                <a:spcPts val="800"/>
              </a:spcAft>
              <a:defRPr sz="1400">
                <a:solidFill>
                  <a:srgbClr val="1A202C"/>
                </a:solidFill>
              </a:defRPr>
            </a:pPr>
            <a:r>
              <a:t>Веб-разработка: API, realtime-обмен, frontend/backend архитектура.</a:t>
            </a:r>
          </a:p>
        </p:txBody>
      </p:sp>
      <p:sp>
        <p:nvSpPr>
          <p:cNvPr id="5" name="Rounded Rectangle 4"/>
          <p:cNvSpPr/>
          <p:nvPr/>
        </p:nvSpPr>
        <p:spPr>
          <a:xfrm>
            <a:off x="5532120" y="1737360"/>
            <a:ext cx="5989320" cy="4526280"/>
          </a:xfrm>
          <a:prstGeom prst="roundRect">
            <a:avLst/>
          </a:prstGeom>
          <a:solidFill>
            <a:srgbClr val="EDF2F7"/>
          </a:solidFill>
          <a:ln w="165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2B6CB0"/>
                </a:solidFill>
              </a:rPr>
              <a:t>МЕСТО ДЛЯ ИЗОБРАЖЕНИЯ</a:t>
            </a:r>
          </a:p>
          <a:p>
            <a:pPr algn="ctr">
              <a:defRPr sz="1200">
                <a:solidFill>
                  <a:srgbClr val="4A5568"/>
                </a:solidFill>
              </a:defRPr>
            </a:pPr>
            <a:r>
              <a:t>Дерево компетенций проекта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961120" cy="914400"/>
          </a:xfrm>
          <a:prstGeom prst="rect">
            <a:avLst/>
          </a:prstGeom>
          <a:noFill/>
        </p:spPr>
        <p:txBody>
          <a:bodyPr wrap="none">
            <a:spAutoFit/>
          </a:bodyPr>
          <a:lstStyle/>
          <a:p>
            <a:r>
              <a:rPr sz="3400" b="1">
                <a:solidFill>
                  <a:srgbClr val="1A202C"/>
                </a:solidFill>
              </a:rPr>
              <a:t>4. Технологический стек</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4A5568"/>
                </a:solidFill>
              </a:rPr>
              <a:t>Какие инструменты мы применили</a:t>
            </a:r>
          </a:p>
        </p:txBody>
      </p:sp>
      <p:sp>
        <p:nvSpPr>
          <p:cNvPr id="4" name="Rounded Rectangle 3"/>
          <p:cNvSpPr/>
          <p:nvPr/>
        </p:nvSpPr>
        <p:spPr>
          <a:xfrm>
            <a:off x="548640" y="1737360"/>
            <a:ext cx="4846320" cy="2194560"/>
          </a:xfrm>
          <a:prstGeom prst="roundRect">
            <a:avLst/>
          </a:prstGeom>
          <a:solidFill>
            <a:srgbClr val="F7F9FC"/>
          </a:solidFill>
          <a:ln w="1397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1A202C"/>
                </a:solidFill>
              </a:defRPr>
            </a:pPr>
            <a:r>
              <a:t>Frontend: React + TypeScript.</a:t>
            </a:r>
          </a:p>
          <a:p>
            <a:pPr>
              <a:spcAft>
                <a:spcPts val="800"/>
              </a:spcAft>
              <a:defRPr sz="1400">
                <a:solidFill>
                  <a:srgbClr val="1A202C"/>
                </a:solidFill>
              </a:defRPr>
            </a:pPr>
            <a:r>
              <a:t>Backend: FastAPI + WebSocket + REST API.</a:t>
            </a:r>
          </a:p>
          <a:p>
            <a:pPr>
              <a:spcAft>
                <a:spcPts val="800"/>
              </a:spcAft>
              <a:defRPr sz="1400">
                <a:solidFill>
                  <a:srgbClr val="1A202C"/>
                </a:solidFill>
              </a:defRPr>
            </a:pPr>
            <a:r>
              <a:t>AI-модули: распознавание лиц, голоса, речи, детекция стола.</a:t>
            </a:r>
          </a:p>
        </p:txBody>
      </p:sp>
      <p:sp>
        <p:nvSpPr>
          <p:cNvPr id="5" name="Rounded Rectangle 4"/>
          <p:cNvSpPr/>
          <p:nvPr/>
        </p:nvSpPr>
        <p:spPr>
          <a:xfrm>
            <a:off x="5532120" y="1737360"/>
            <a:ext cx="5989320" cy="4526280"/>
          </a:xfrm>
          <a:prstGeom prst="roundRect">
            <a:avLst/>
          </a:prstGeom>
          <a:solidFill>
            <a:srgbClr val="EDF2F7"/>
          </a:solidFill>
          <a:ln w="165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2B6CB0"/>
                </a:solidFill>
              </a:rPr>
              <a:t>МЕСТО ДЛЯ ИЗОБРАЖЕНИЯ</a:t>
            </a:r>
          </a:p>
          <a:p>
            <a:pPr algn="ctr">
              <a:defRPr sz="1200">
                <a:solidFill>
                  <a:srgbClr val="4A5568"/>
                </a:solidFill>
              </a:defRPr>
            </a:pPr>
            <a:r>
              <a:t>Карта технологий и связей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961120" cy="914400"/>
          </a:xfrm>
          <a:prstGeom prst="rect">
            <a:avLst/>
          </a:prstGeom>
          <a:noFill/>
        </p:spPr>
        <p:txBody>
          <a:bodyPr wrap="none">
            <a:spAutoFit/>
          </a:bodyPr>
          <a:lstStyle/>
          <a:p>
            <a:r>
              <a:rPr sz="3400" b="1">
                <a:solidFill>
                  <a:srgbClr val="1A202C"/>
                </a:solidFill>
              </a:rPr>
              <a:t>5. Как мы изучали Computer Vision</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4A5568"/>
                </a:solidFill>
              </a:rPr>
              <a:t>От изображения до полезного сигнала</a:t>
            </a:r>
          </a:p>
        </p:txBody>
      </p:sp>
      <p:sp>
        <p:nvSpPr>
          <p:cNvPr id="4" name="Rounded Rectangle 3"/>
          <p:cNvSpPr/>
          <p:nvPr/>
        </p:nvSpPr>
        <p:spPr>
          <a:xfrm>
            <a:off x="548640" y="1737360"/>
            <a:ext cx="4846320" cy="2194560"/>
          </a:xfrm>
          <a:prstGeom prst="roundRect">
            <a:avLst/>
          </a:prstGeom>
          <a:solidFill>
            <a:srgbClr val="F7F9FC"/>
          </a:solidFill>
          <a:ln w="1397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1A202C"/>
                </a:solidFill>
              </a:defRPr>
            </a:pPr>
            <a:r>
              <a:t>Разобрались с видеопотоком, частотой кадров и предобработкой изображения.</a:t>
            </a:r>
          </a:p>
          <a:p>
            <a:pPr>
              <a:spcAft>
                <a:spcPts val="800"/>
              </a:spcAft>
              <a:defRPr sz="1400">
                <a:solidFill>
                  <a:srgbClr val="1A202C"/>
                </a:solidFill>
              </a:defRPr>
            </a:pPr>
            <a:r>
              <a:t>Освоили подход “детекция → признаки → сравнение”.</a:t>
            </a:r>
          </a:p>
        </p:txBody>
      </p:sp>
      <p:sp>
        <p:nvSpPr>
          <p:cNvPr id="5" name="Rounded Rectangle 4"/>
          <p:cNvSpPr/>
          <p:nvPr/>
        </p:nvSpPr>
        <p:spPr>
          <a:xfrm>
            <a:off x="5532120" y="1737360"/>
            <a:ext cx="5989320" cy="4526280"/>
          </a:xfrm>
          <a:prstGeom prst="roundRect">
            <a:avLst/>
          </a:prstGeom>
          <a:solidFill>
            <a:srgbClr val="EDF2F7"/>
          </a:solidFill>
          <a:ln w="165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2B6CB0"/>
                </a:solidFill>
              </a:rPr>
              <a:t>МЕСТО ДЛЯ ИЗОБРАЖЕНИЯ</a:t>
            </a:r>
          </a:p>
          <a:p>
            <a:pPr algn="ctr">
              <a:defRPr sz="1200">
                <a:solidFill>
                  <a:srgbClr val="4A5568"/>
                </a:solidFill>
              </a:defRPr>
            </a:pPr>
            <a:r>
              <a:t>Пайплайн обработки видеокадра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961120" cy="914400"/>
          </a:xfrm>
          <a:prstGeom prst="rect">
            <a:avLst/>
          </a:prstGeom>
          <a:noFill/>
        </p:spPr>
        <p:txBody>
          <a:bodyPr wrap="none">
            <a:spAutoFit/>
          </a:bodyPr>
          <a:lstStyle/>
          <a:p>
            <a:r>
              <a:rPr sz="3400" b="1">
                <a:solidFill>
                  <a:srgbClr val="1A202C"/>
                </a:solidFill>
              </a:rPr>
              <a:t>6. Распознавание лиц (CompreFace)</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4A5568"/>
                </a:solidFill>
              </a:rPr>
              <a:t>Что мы поняли на практике</a:t>
            </a:r>
          </a:p>
        </p:txBody>
      </p:sp>
      <p:sp>
        <p:nvSpPr>
          <p:cNvPr id="4" name="Rounded Rectangle 3"/>
          <p:cNvSpPr/>
          <p:nvPr/>
        </p:nvSpPr>
        <p:spPr>
          <a:xfrm>
            <a:off x="548640" y="1737360"/>
            <a:ext cx="4846320" cy="2194560"/>
          </a:xfrm>
          <a:prstGeom prst="roundRect">
            <a:avLst/>
          </a:prstGeom>
          <a:solidFill>
            <a:srgbClr val="F7F9FC"/>
          </a:solidFill>
          <a:ln w="1397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1A202C"/>
                </a:solidFill>
              </a:defRPr>
            </a:pPr>
            <a:r>
              <a:t>Качество зависит от освещения, ракурса и стабильности кадра.</a:t>
            </a:r>
          </a:p>
          <a:p>
            <a:pPr>
              <a:spcAft>
                <a:spcPts val="800"/>
              </a:spcAft>
              <a:defRPr sz="1400">
                <a:solidFill>
                  <a:srgbClr val="1A202C"/>
                </a:solidFill>
              </a:defRPr>
            </a:pPr>
            <a:r>
              <a:t>Нужны пороги уверенности и проверка ошибок, чтобы снизить ложные совпадения.</a:t>
            </a:r>
          </a:p>
        </p:txBody>
      </p:sp>
      <p:sp>
        <p:nvSpPr>
          <p:cNvPr id="5" name="Rounded Rectangle 4"/>
          <p:cNvSpPr/>
          <p:nvPr/>
        </p:nvSpPr>
        <p:spPr>
          <a:xfrm>
            <a:off x="5532120" y="1737360"/>
            <a:ext cx="5989320" cy="4526280"/>
          </a:xfrm>
          <a:prstGeom prst="roundRect">
            <a:avLst/>
          </a:prstGeom>
          <a:solidFill>
            <a:srgbClr val="EDF2F7"/>
          </a:solidFill>
          <a:ln w="165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2B6CB0"/>
                </a:solidFill>
              </a:rPr>
              <a:t>МЕСТО ДЛЯ ИЗОБРАЖЕНИЯ</a:t>
            </a:r>
          </a:p>
          <a:p>
            <a:pPr algn="ctr">
              <a:defRPr sz="1200">
                <a:solidFill>
                  <a:srgbClr val="4A5568"/>
                </a:solidFill>
              </a:defRPr>
            </a:pPr>
            <a:r>
              <a:t>Схема face enrollment и face identify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961120" cy="914400"/>
          </a:xfrm>
          <a:prstGeom prst="rect">
            <a:avLst/>
          </a:prstGeom>
          <a:noFill/>
        </p:spPr>
        <p:txBody>
          <a:bodyPr wrap="none">
            <a:spAutoFit/>
          </a:bodyPr>
          <a:lstStyle/>
          <a:p>
            <a:r>
              <a:rPr sz="3400" b="1">
                <a:solidFill>
                  <a:srgbClr val="1A202C"/>
                </a:solidFill>
              </a:rPr>
              <a:t>7. Работа со звуком и голосом</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4A5568"/>
                </a:solidFill>
              </a:rPr>
              <a:t>Два слоя: кто говорит и что говорит</a:t>
            </a:r>
          </a:p>
        </p:txBody>
      </p:sp>
      <p:sp>
        <p:nvSpPr>
          <p:cNvPr id="4" name="Rounded Rectangle 3"/>
          <p:cNvSpPr/>
          <p:nvPr/>
        </p:nvSpPr>
        <p:spPr>
          <a:xfrm>
            <a:off x="548640" y="1737360"/>
            <a:ext cx="4846320" cy="2194560"/>
          </a:xfrm>
          <a:prstGeom prst="roundRect">
            <a:avLst/>
          </a:prstGeom>
          <a:solidFill>
            <a:srgbClr val="F7F9FC"/>
          </a:solidFill>
          <a:ln w="1397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1A202C"/>
                </a:solidFill>
              </a:defRPr>
            </a:pPr>
            <a:r>
              <a:t>Speaker ID: сопоставление голосового профиля игрока.</a:t>
            </a:r>
          </a:p>
          <a:p>
            <a:pPr>
              <a:spcAft>
                <a:spcPts val="800"/>
              </a:spcAft>
              <a:defRPr sz="1400">
                <a:solidFill>
                  <a:srgbClr val="1A202C"/>
                </a:solidFill>
              </a:defRPr>
            </a:pPr>
            <a:r>
              <a:t>ASR: преобразование речи в текст для логов и анализа.</a:t>
            </a:r>
          </a:p>
        </p:txBody>
      </p:sp>
      <p:sp>
        <p:nvSpPr>
          <p:cNvPr id="5" name="Rounded Rectangle 4"/>
          <p:cNvSpPr/>
          <p:nvPr/>
        </p:nvSpPr>
        <p:spPr>
          <a:xfrm>
            <a:off x="5532120" y="1737360"/>
            <a:ext cx="5989320" cy="4526280"/>
          </a:xfrm>
          <a:prstGeom prst="roundRect">
            <a:avLst/>
          </a:prstGeom>
          <a:solidFill>
            <a:srgbClr val="EDF2F7"/>
          </a:solidFill>
          <a:ln w="165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2B6CB0"/>
                </a:solidFill>
              </a:rPr>
              <a:t>МЕСТО ДЛЯ ИЗОБРАЖЕНИЯ</a:t>
            </a:r>
          </a:p>
          <a:p>
            <a:pPr algn="ctr">
              <a:defRPr sz="1200">
                <a:solidFill>
                  <a:srgbClr val="4A5568"/>
                </a:solidFill>
              </a:defRPr>
            </a:pPr>
            <a:r>
              <a:t>Аудиопайплайн: микрофон → анализ → результат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961120" cy="914400"/>
          </a:xfrm>
          <a:prstGeom prst="rect">
            <a:avLst/>
          </a:prstGeom>
          <a:noFill/>
        </p:spPr>
        <p:txBody>
          <a:bodyPr wrap="none">
            <a:spAutoFit/>
          </a:bodyPr>
          <a:lstStyle/>
          <a:p>
            <a:r>
              <a:rPr sz="3400" b="1">
                <a:solidFill>
                  <a:srgbClr val="1A202C"/>
                </a:solidFill>
              </a:rPr>
              <a:t>8. Realtime и задержки</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4A5568"/>
                </a:solidFill>
              </a:rPr>
              <a:t>Как мы балансировали скорость и качество</a:t>
            </a:r>
          </a:p>
        </p:txBody>
      </p:sp>
      <p:sp>
        <p:nvSpPr>
          <p:cNvPr id="4" name="Rounded Rectangle 3"/>
          <p:cNvSpPr/>
          <p:nvPr/>
        </p:nvSpPr>
        <p:spPr>
          <a:xfrm>
            <a:off x="548640" y="1737360"/>
            <a:ext cx="4846320" cy="2194560"/>
          </a:xfrm>
          <a:prstGeom prst="roundRect">
            <a:avLst/>
          </a:prstGeom>
          <a:solidFill>
            <a:srgbClr val="F7F9FC"/>
          </a:solidFill>
          <a:ln w="1397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1A202C"/>
                </a:solidFill>
              </a:defRPr>
            </a:pPr>
            <a:r>
              <a:t>Проблема: качественная транскрипция может увеличивать задержку.</a:t>
            </a:r>
          </a:p>
          <a:p>
            <a:pPr>
              <a:spcAft>
                <a:spcPts val="800"/>
              </a:spcAft>
              <a:defRPr sz="1400">
                <a:solidFill>
                  <a:srgbClr val="1A202C"/>
                </a:solidFill>
              </a:defRPr>
            </a:pPr>
            <a:r>
              <a:t>Решение: оптимизация чанков, очередей и таймаутов.</a:t>
            </a:r>
          </a:p>
        </p:txBody>
      </p:sp>
      <p:sp>
        <p:nvSpPr>
          <p:cNvPr id="5" name="Rounded Rectangle 4"/>
          <p:cNvSpPr/>
          <p:nvPr/>
        </p:nvSpPr>
        <p:spPr>
          <a:xfrm>
            <a:off x="5532120" y="1737360"/>
            <a:ext cx="5989320" cy="4526280"/>
          </a:xfrm>
          <a:prstGeom prst="roundRect">
            <a:avLst/>
          </a:prstGeom>
          <a:solidFill>
            <a:srgbClr val="EDF2F7"/>
          </a:solidFill>
          <a:ln w="165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2B6CB0"/>
                </a:solidFill>
              </a:rPr>
              <a:t>МЕСТО ДЛЯ ИЗОБРАЖЕНИЯ</a:t>
            </a:r>
          </a:p>
          <a:p>
            <a:pPr algn="ctr">
              <a:defRPr sz="1200">
                <a:solidFill>
                  <a:srgbClr val="4A5568"/>
                </a:solidFill>
              </a:defRPr>
            </a:pPr>
            <a:r>
              <a:t>Баланс latency vs quality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961120" cy="914400"/>
          </a:xfrm>
          <a:prstGeom prst="rect">
            <a:avLst/>
          </a:prstGeom>
          <a:noFill/>
        </p:spPr>
        <p:txBody>
          <a:bodyPr wrap="none">
            <a:spAutoFit/>
          </a:bodyPr>
          <a:lstStyle/>
          <a:p>
            <a:r>
              <a:rPr sz="3400" b="1">
                <a:solidFill>
                  <a:srgbClr val="1A202C"/>
                </a:solidFill>
              </a:rPr>
              <a:t>9. Определение стола</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4A5568"/>
                </a:solidFill>
              </a:rPr>
              <a:t>Зачем нужна геометрия сцены</a:t>
            </a:r>
          </a:p>
        </p:txBody>
      </p:sp>
      <p:sp>
        <p:nvSpPr>
          <p:cNvPr id="4" name="Rounded Rectangle 3"/>
          <p:cNvSpPr/>
          <p:nvPr/>
        </p:nvSpPr>
        <p:spPr>
          <a:xfrm>
            <a:off x="548640" y="1737360"/>
            <a:ext cx="4846320" cy="2194560"/>
          </a:xfrm>
          <a:prstGeom prst="roundRect">
            <a:avLst/>
          </a:prstGeom>
          <a:solidFill>
            <a:srgbClr val="F7F9FC"/>
          </a:solidFill>
          <a:ln w="1397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1A202C"/>
                </a:solidFill>
              </a:defRPr>
            </a:pPr>
            <a:r>
              <a:t>Система должна понимать рабочую область игры.</a:t>
            </a:r>
          </a:p>
          <a:p>
            <a:pPr>
              <a:spcAft>
                <a:spcPts val="800"/>
              </a:spcAft>
              <a:defRPr sz="1400">
                <a:solidFill>
                  <a:srgbClr val="1A202C"/>
                </a:solidFill>
              </a:defRPr>
            </a:pPr>
            <a:r>
              <a:t>Используем автоопределение и ручную корректировку контура.</a:t>
            </a:r>
          </a:p>
        </p:txBody>
      </p:sp>
      <p:sp>
        <p:nvSpPr>
          <p:cNvPr id="5" name="Rounded Rectangle 4"/>
          <p:cNvSpPr/>
          <p:nvPr/>
        </p:nvSpPr>
        <p:spPr>
          <a:xfrm>
            <a:off x="5532120" y="1737360"/>
            <a:ext cx="5989320" cy="4526280"/>
          </a:xfrm>
          <a:prstGeom prst="roundRect">
            <a:avLst/>
          </a:prstGeom>
          <a:solidFill>
            <a:srgbClr val="EDF2F7"/>
          </a:solidFill>
          <a:ln w="165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2B6CB0"/>
                </a:solidFill>
              </a:rPr>
              <a:t>МЕСТО ДЛЯ ИЗОБРАЖЕНИЯ</a:t>
            </a:r>
          </a:p>
          <a:p>
            <a:pPr algn="ctr">
              <a:defRPr sz="1200">
                <a:solidFill>
                  <a:srgbClr val="4A5568"/>
                </a:solidFill>
              </a:defRPr>
            </a:pPr>
            <a:r>
              <a:t>Камера с контуром стола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961120" cy="914400"/>
          </a:xfrm>
          <a:prstGeom prst="rect">
            <a:avLst/>
          </a:prstGeom>
          <a:noFill/>
        </p:spPr>
        <p:txBody>
          <a:bodyPr wrap="none">
            <a:spAutoFit/>
          </a:bodyPr>
          <a:lstStyle/>
          <a:p>
            <a:r>
              <a:rPr sz="3400" b="1">
                <a:solidFill>
                  <a:srgbClr val="1A202C"/>
                </a:solidFill>
              </a:rPr>
              <a:t>10. Архитектура проекта</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4A5568"/>
                </a:solidFill>
              </a:rPr>
              <a:t>Почему разбили систему на слои</a:t>
            </a:r>
          </a:p>
        </p:txBody>
      </p:sp>
      <p:sp>
        <p:nvSpPr>
          <p:cNvPr id="4" name="Rounded Rectangle 3"/>
          <p:cNvSpPr/>
          <p:nvPr/>
        </p:nvSpPr>
        <p:spPr>
          <a:xfrm>
            <a:off x="548640" y="1737360"/>
            <a:ext cx="4846320" cy="2194560"/>
          </a:xfrm>
          <a:prstGeom prst="roundRect">
            <a:avLst/>
          </a:prstGeom>
          <a:solidFill>
            <a:srgbClr val="F7F9FC"/>
          </a:solidFill>
          <a:ln w="1397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1A202C"/>
                </a:solidFill>
              </a:defRPr>
            </a:pPr>
            <a:r>
              <a:t>Frontend, Backend и AI-модули разделены, чтобы проще тестировать и развивать.</a:t>
            </a:r>
          </a:p>
          <a:p>
            <a:pPr>
              <a:spcAft>
                <a:spcPts val="800"/>
              </a:spcAft>
              <a:defRPr sz="1400">
                <a:solidFill>
                  <a:srgbClr val="1A202C"/>
                </a:solidFill>
              </a:defRPr>
            </a:pPr>
            <a:r>
              <a:t>Такой подход делает проект более поддерживаемым.</a:t>
            </a:r>
          </a:p>
        </p:txBody>
      </p:sp>
      <p:sp>
        <p:nvSpPr>
          <p:cNvPr id="5" name="Rounded Rectangle 4"/>
          <p:cNvSpPr/>
          <p:nvPr/>
        </p:nvSpPr>
        <p:spPr>
          <a:xfrm>
            <a:off x="5532120" y="1737360"/>
            <a:ext cx="5989320" cy="4526280"/>
          </a:xfrm>
          <a:prstGeom prst="roundRect">
            <a:avLst/>
          </a:prstGeom>
          <a:solidFill>
            <a:srgbClr val="EDF2F7"/>
          </a:solidFill>
          <a:ln w="165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2B6CB0"/>
                </a:solidFill>
              </a:rPr>
              <a:t>МЕСТО ДЛЯ ИЗОБРАЖЕНИЯ</a:t>
            </a:r>
          </a:p>
          <a:p>
            <a:pPr algn="ctr">
              <a:defRPr sz="1200">
                <a:solidFill>
                  <a:srgbClr val="4A5568"/>
                </a:solidFill>
              </a:defRPr>
            </a:pPr>
            <a:r>
              <a:t>Слоистая архитектурная схема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961120" cy="914400"/>
          </a:xfrm>
          <a:prstGeom prst="rect">
            <a:avLst/>
          </a:prstGeom>
          <a:noFill/>
        </p:spPr>
        <p:txBody>
          <a:bodyPr wrap="none">
            <a:spAutoFit/>
          </a:bodyPr>
          <a:lstStyle/>
          <a:p>
            <a:r>
              <a:rPr sz="3400" b="1">
                <a:solidFill>
                  <a:srgbClr val="1A202C"/>
                </a:solidFill>
              </a:rPr>
              <a:t>11. Эксперименты и отладка</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4A5568"/>
                </a:solidFill>
              </a:rPr>
              <a:t>Что пришлось решать по ходу разработки</a:t>
            </a:r>
          </a:p>
        </p:txBody>
      </p:sp>
      <p:sp>
        <p:nvSpPr>
          <p:cNvPr id="4" name="Rounded Rectangle 3"/>
          <p:cNvSpPr/>
          <p:nvPr/>
        </p:nvSpPr>
        <p:spPr>
          <a:xfrm>
            <a:off x="548640" y="1737360"/>
            <a:ext cx="4846320" cy="2194560"/>
          </a:xfrm>
          <a:prstGeom prst="roundRect">
            <a:avLst/>
          </a:prstGeom>
          <a:solidFill>
            <a:srgbClr val="F7F9FC"/>
          </a:solidFill>
          <a:ln w="1397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1A202C"/>
                </a:solidFill>
              </a:defRPr>
            </a:pPr>
            <a:r>
              <a:t>Конфликты портов, таймауты, шум в аудио, ложные распознавания.</a:t>
            </a:r>
          </a:p>
          <a:p>
            <a:pPr>
              <a:spcAft>
                <a:spcPts val="800"/>
              </a:spcAft>
              <a:defRPr sz="1400">
                <a:solidFill>
                  <a:srgbClr val="1A202C"/>
                </a:solidFill>
              </a:defRPr>
            </a:pPr>
            <a:r>
              <a:t>Мы научились диагностике: логи, тестовые роуты, итеративные улучшения.</a:t>
            </a:r>
          </a:p>
        </p:txBody>
      </p:sp>
      <p:sp>
        <p:nvSpPr>
          <p:cNvPr id="5" name="Rounded Rectangle 4"/>
          <p:cNvSpPr/>
          <p:nvPr/>
        </p:nvSpPr>
        <p:spPr>
          <a:xfrm>
            <a:off x="5532120" y="1737360"/>
            <a:ext cx="5989320" cy="4526280"/>
          </a:xfrm>
          <a:prstGeom prst="roundRect">
            <a:avLst/>
          </a:prstGeom>
          <a:solidFill>
            <a:srgbClr val="EDF2F7"/>
          </a:solidFill>
          <a:ln w="165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2B6CB0"/>
                </a:solidFill>
              </a:rPr>
              <a:t>МЕСТО ДЛЯ ИЗОБРАЖЕНИЯ</a:t>
            </a:r>
          </a:p>
          <a:p>
            <a:pPr algn="ctr">
              <a:defRPr sz="1200">
                <a:solidFill>
                  <a:srgbClr val="4A5568"/>
                </a:solidFill>
              </a:defRPr>
            </a:pPr>
            <a:r>
              <a:t>Цикл: гипотеза → тест → лог → исправление</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961120" cy="914400"/>
          </a:xfrm>
          <a:prstGeom prst="rect">
            <a:avLst/>
          </a:prstGeom>
          <a:noFill/>
        </p:spPr>
        <p:txBody>
          <a:bodyPr wrap="none">
            <a:spAutoFit/>
          </a:bodyPr>
          <a:lstStyle/>
          <a:p>
            <a:r>
              <a:rPr sz="3400" b="1">
                <a:solidFill>
                  <a:srgbClr val="1A202C"/>
                </a:solidFill>
              </a:rPr>
              <a:t>12. Что мы получили как учебный результат</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4A5568"/>
                </a:solidFill>
              </a:rPr>
              <a:t>Ключевые навыки команды</a:t>
            </a:r>
          </a:p>
        </p:txBody>
      </p:sp>
      <p:sp>
        <p:nvSpPr>
          <p:cNvPr id="4" name="Rounded Rectangle 3"/>
          <p:cNvSpPr/>
          <p:nvPr/>
        </p:nvSpPr>
        <p:spPr>
          <a:xfrm>
            <a:off x="548640" y="1737360"/>
            <a:ext cx="4846320" cy="2194560"/>
          </a:xfrm>
          <a:prstGeom prst="roundRect">
            <a:avLst/>
          </a:prstGeom>
          <a:solidFill>
            <a:srgbClr val="F7F9FC"/>
          </a:solidFill>
          <a:ln w="1397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1A202C"/>
                </a:solidFill>
              </a:defRPr>
            </a:pPr>
            <a:r>
              <a:t>Интеграция AI-модулей в реальное приложение.</a:t>
            </a:r>
          </a:p>
          <a:p>
            <a:pPr>
              <a:spcAft>
                <a:spcPts val="800"/>
              </a:spcAft>
              <a:defRPr sz="1400">
                <a:solidFill>
                  <a:srgbClr val="1A202C"/>
                </a:solidFill>
              </a:defRPr>
            </a:pPr>
            <a:r>
              <a:t>Работа с realtime-системами и пользовательскими сценариями.</a:t>
            </a:r>
          </a:p>
          <a:p>
            <a:pPr>
              <a:spcAft>
                <a:spcPts val="800"/>
              </a:spcAft>
              <a:defRPr sz="1400">
                <a:solidFill>
                  <a:srgbClr val="1A202C"/>
                </a:solidFill>
              </a:defRPr>
            </a:pPr>
            <a:r>
              <a:t>Командная разработка и инженерная дисциплина.</a:t>
            </a:r>
          </a:p>
        </p:txBody>
      </p:sp>
      <p:sp>
        <p:nvSpPr>
          <p:cNvPr id="5" name="Rounded Rectangle 4"/>
          <p:cNvSpPr/>
          <p:nvPr/>
        </p:nvSpPr>
        <p:spPr>
          <a:xfrm>
            <a:off x="5532120" y="1737360"/>
            <a:ext cx="5989320" cy="4526280"/>
          </a:xfrm>
          <a:prstGeom prst="roundRect">
            <a:avLst/>
          </a:prstGeom>
          <a:solidFill>
            <a:srgbClr val="EDF2F7"/>
          </a:solidFill>
          <a:ln w="165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2B6CB0"/>
                </a:solidFill>
              </a:rPr>
              <a:t>МЕСТО ДЛЯ ИЗОБРАЖЕНИЯ</a:t>
            </a:r>
          </a:p>
          <a:p>
            <a:pPr algn="ctr">
              <a:defRPr sz="1200">
                <a:solidFill>
                  <a:srgbClr val="4A5568"/>
                </a:solidFill>
              </a:defRPr>
            </a:pPr>
            <a:r>
              <a:t>Итоговые навыки и компетенции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961120" cy="914400"/>
          </a:xfrm>
          <a:prstGeom prst="rect">
            <a:avLst/>
          </a:prstGeom>
          <a:noFill/>
        </p:spPr>
        <p:txBody>
          <a:bodyPr wrap="none">
            <a:spAutoFit/>
          </a:bodyPr>
          <a:lstStyle/>
          <a:p>
            <a:r>
              <a:rPr sz="3400" b="1">
                <a:solidFill>
                  <a:srgbClr val="1A202C"/>
                </a:solidFill>
              </a:rPr>
              <a:t>13. Вывод</a:t>
            </a:r>
          </a:p>
        </p:txBody>
      </p:sp>
      <p:sp>
        <p:nvSpPr>
          <p:cNvPr id="3" name="TextBox 2"/>
          <p:cNvSpPr txBox="1"/>
          <p:nvPr/>
        </p:nvSpPr>
        <p:spPr>
          <a:xfrm>
            <a:off x="566928" y="1097280"/>
            <a:ext cx="10972800" cy="594360"/>
          </a:xfrm>
          <a:prstGeom prst="rect">
            <a:avLst/>
          </a:prstGeom>
          <a:noFill/>
        </p:spPr>
        <p:txBody>
          <a:bodyPr wrap="none">
            <a:spAutoFit/>
          </a:bodyPr>
          <a:lstStyle/>
          <a:p>
            <a:r>
              <a:rPr sz="1600">
                <a:solidFill>
                  <a:srgbClr val="4A5568"/>
                </a:solidFill>
              </a:rPr>
              <a:t>Проект как способ понять технологии через практику</a:t>
            </a:r>
          </a:p>
        </p:txBody>
      </p:sp>
      <p:sp>
        <p:nvSpPr>
          <p:cNvPr id="4" name="Rounded Rectangle 3"/>
          <p:cNvSpPr/>
          <p:nvPr/>
        </p:nvSpPr>
        <p:spPr>
          <a:xfrm>
            <a:off x="548640" y="1737360"/>
            <a:ext cx="4846320" cy="2194560"/>
          </a:xfrm>
          <a:prstGeom prst="roundRect">
            <a:avLst/>
          </a:prstGeom>
          <a:solidFill>
            <a:srgbClr val="F7F9FC"/>
          </a:solidFill>
          <a:ln w="1397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400">
                <a:solidFill>
                  <a:srgbClr val="1A202C"/>
                </a:solidFill>
              </a:defRPr>
            </a:pPr>
            <a:r>
              <a:t>Главная ценность: мы глубоко разобрались в современных технологиях AI и веб-разработки.</a:t>
            </a:r>
          </a:p>
          <a:p>
            <a:pPr>
              <a:spcAft>
                <a:spcPts val="800"/>
              </a:spcAft>
              <a:defRPr sz="1400">
                <a:solidFill>
                  <a:srgbClr val="1A202C"/>
                </a:solidFill>
              </a:defRPr>
            </a:pPr>
            <a:r>
              <a:t>Продукт — это демонстрация того, чему мы научились.</a:t>
            </a:r>
          </a:p>
        </p:txBody>
      </p:sp>
      <p:sp>
        <p:nvSpPr>
          <p:cNvPr id="5" name="Rounded Rectangle 4"/>
          <p:cNvSpPr/>
          <p:nvPr/>
        </p:nvSpPr>
        <p:spPr>
          <a:xfrm>
            <a:off x="5532120" y="1737360"/>
            <a:ext cx="5989320" cy="4526280"/>
          </a:xfrm>
          <a:prstGeom prst="roundRect">
            <a:avLst/>
          </a:prstGeom>
          <a:solidFill>
            <a:srgbClr val="EDF2F7"/>
          </a:solidFill>
          <a:ln w="1651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2B6CB0"/>
                </a:solidFill>
              </a:rPr>
              <a:t>МЕСТО ДЛЯ ИЗОБРАЖЕНИЯ</a:t>
            </a:r>
          </a:p>
          <a:p>
            <a:pPr algn="ctr">
              <a:defRPr sz="1200">
                <a:solidFill>
                  <a:srgbClr val="4A5568"/>
                </a:solidFill>
              </a:defRPr>
            </a:pPr>
            <a:r>
              <a:t>Финальный нейтральный кадр для завершения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